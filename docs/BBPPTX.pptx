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0" r:id="rId4"/>
  </p:sldMasterIdLst>
  <p:notesMasterIdLst>
    <p:notesMasterId r:id="rId11"/>
  </p:notesMasterIdLst>
  <p:handoutMasterIdLst>
    <p:handoutMasterId r:id="rId12"/>
  </p:handoutMasterIdLst>
  <p:sldIdLst>
    <p:sldId id="441" r:id="rId5"/>
    <p:sldId id="257" r:id="rId6"/>
    <p:sldId id="445" r:id="rId7"/>
    <p:sldId id="2145705429" r:id="rId8"/>
    <p:sldId id="2145705431" r:id="rId9"/>
    <p:sldId id="2145705468" r:id="rId10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AFD2F0"/>
    <a:srgbClr val="FFFFFF"/>
    <a:srgbClr val="00CC99"/>
    <a:srgbClr val="F66C41"/>
    <a:srgbClr val="00664D"/>
    <a:srgbClr val="1643A5"/>
    <a:srgbClr val="00166A"/>
    <a:srgbClr val="D9D9D9"/>
    <a:srgbClr val="E6E6E6"/>
    <a:srgbClr val="EAB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9" autoAdjust="0"/>
    <p:restoredTop sz="80889" autoAdjust="0"/>
  </p:normalViewPr>
  <p:slideViewPr>
    <p:cSldViewPr snapToGrid="0">
      <p:cViewPr varScale="1">
        <p:scale>
          <a:sx n="89" d="100"/>
          <a:sy n="89" d="100"/>
        </p:scale>
        <p:origin x="1464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1696"/>
    </p:cViewPr>
  </p:outlin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66" d="100"/>
        <a:sy n="66" d="100"/>
      </p:scale>
      <p:origin x="0" y="5352"/>
    </p:cViewPr>
  </p:sorterViewPr>
  <p:notesViewPr>
    <p:cSldViewPr snapToGrid="0">
      <p:cViewPr varScale="1">
        <p:scale>
          <a:sx n="157" d="100"/>
          <a:sy n="157" d="100"/>
        </p:scale>
        <p:origin x="296" y="17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213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213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3995E533-E32F-4BB7-A2C7-95796231553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233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213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66" y="4559956"/>
            <a:ext cx="5851471" cy="4320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213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47D07E1-450F-4D21-88F2-2F1F63C1D3B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90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7D07E1-450F-4D21-88F2-2F1F63C1D3B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3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7D07E1-450F-4D21-88F2-2F1F63C1D3B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94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7D07E1-450F-4D21-88F2-2F1F63C1D3B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7D07E1-450F-4D21-88F2-2F1F63C1D3B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28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3975258" y="2"/>
            <a:ext cx="8216744" cy="6841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8" tIns="26999" rIns="53998" bIns="26999" rtlCol="0" anchor="ctr"/>
          <a:lstStyle/>
          <a:p>
            <a:pPr algn="ctr"/>
            <a:endParaRPr lang="en-GB" sz="1600"/>
          </a:p>
        </p:txBody>
      </p:sp>
      <p:sp>
        <p:nvSpPr>
          <p:cNvPr id="41" name="Rectangle 15"/>
          <p:cNvSpPr>
            <a:spLocks noGrp="1" noChangeArrowheads="1"/>
          </p:cNvSpPr>
          <p:nvPr>
            <p:ph type="ftr" sz="quarter" idx="10"/>
          </p:nvPr>
        </p:nvSpPr>
        <p:spPr>
          <a:xfrm>
            <a:off x="4253593" y="6198698"/>
            <a:ext cx="6822924" cy="406400"/>
          </a:xfrm>
        </p:spPr>
        <p:txBody>
          <a:bodyPr/>
          <a:lstStyle>
            <a:lvl1pPr algn="l">
              <a:defRPr i="0" smtClean="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nl-NL" dirty="0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253593" y="1593520"/>
            <a:ext cx="6906776" cy="1719263"/>
          </a:xfrm>
          <a:noFill/>
        </p:spPr>
        <p:txBody>
          <a:bodyPr anchor="b"/>
          <a:lstStyle>
            <a:lvl1pPr marL="354013" indent="0">
              <a:defRPr sz="4400" b="1" u="none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HET OPMAAKPROFIEL VAN DE MODELTITEL TE BEWERKEN</a:t>
            </a:r>
          </a:p>
        </p:txBody>
      </p:sp>
      <p:sp>
        <p:nvSpPr>
          <p:cNvPr id="22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253593" y="3454767"/>
            <a:ext cx="6906776" cy="1152622"/>
          </a:xfrm>
          <a:prstGeom prst="rect">
            <a:avLst/>
          </a:prstGeom>
          <a:noFill/>
        </p:spPr>
        <p:txBody>
          <a:bodyPr anchor="t"/>
          <a:lstStyle>
            <a:lvl1pPr marL="354013" indent="0">
              <a:buFont typeface="Wingdings" pitchFamily="2" charset="2"/>
              <a:buNone/>
              <a:defRPr sz="32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nl-NL" dirty="0"/>
              <a:t>KLIK OM HET OPMAAKPROFIEL VAN DE MODELONDERTITEL TE BEWERKEN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51B97-BE37-CA47-9D14-29C8740A68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87100" y="6198698"/>
            <a:ext cx="789517" cy="4064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36B5D-EA41-E856-70A4-4511E15914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377" y="493847"/>
            <a:ext cx="3846880" cy="4929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AAB76-B98D-3C67-A35C-3213B8B012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88" y="5731058"/>
            <a:ext cx="987107" cy="658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C3E314-E69A-B540-03EA-3621AE432EF1}"/>
              </a:ext>
            </a:extLst>
          </p:cNvPr>
          <p:cNvSpPr txBox="1"/>
          <p:nvPr userDrawn="1"/>
        </p:nvSpPr>
        <p:spPr>
          <a:xfrm>
            <a:off x="1338145" y="5675373"/>
            <a:ext cx="2509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This project has received funding from the European Union’s Horizon research and innovation programme under grant agreement No 101192452</a:t>
            </a:r>
            <a:endParaRPr lang="en-BE" sz="11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3" y="332879"/>
            <a:ext cx="11430079" cy="83661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11" y="1359878"/>
            <a:ext cx="11400407" cy="459487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663A2-1950-48E6-8399-8A0176E7D7D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2464" y="1514805"/>
            <a:ext cx="10363200" cy="1362075"/>
          </a:xfrm>
        </p:spPr>
        <p:txBody>
          <a:bodyPr anchor="b"/>
          <a:lstStyle>
            <a:lvl1pPr algn="ctr">
              <a:defRPr sz="4000" b="1" cap="none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2872126"/>
            <a:ext cx="10363200" cy="12636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B71E7-1BA8-4BCA-B4F0-4746BEDF418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2464" y="1514805"/>
            <a:ext cx="10363200" cy="1362075"/>
          </a:xfrm>
        </p:spPr>
        <p:txBody>
          <a:bodyPr anchor="b"/>
          <a:lstStyle>
            <a:lvl1pPr algn="ctr">
              <a:defRPr sz="4000" b="1" cap="none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2872126"/>
            <a:ext cx="10363200" cy="12636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B71E7-1BA8-4BCA-B4F0-4746BEDF418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3" y="332879"/>
            <a:ext cx="11430079" cy="83661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11" y="1359878"/>
            <a:ext cx="11400407" cy="4731847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663A2-1950-48E6-8399-8A0176E7D7D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2464" y="1514805"/>
            <a:ext cx="10363200" cy="1362075"/>
          </a:xfrm>
        </p:spPr>
        <p:txBody>
          <a:bodyPr anchor="b"/>
          <a:lstStyle>
            <a:lvl1pPr algn="ctr">
              <a:defRPr sz="4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2872126"/>
            <a:ext cx="10363200" cy="12636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E5D30F3-6AFD-2F1B-EF7E-22D148E03E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244D97-09DD-FD23-E513-6CB85FD28E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01184-B8B2-89EE-6327-8149C07E8EE3}"/>
              </a:ext>
            </a:extLst>
          </p:cNvPr>
          <p:cNvSpPr/>
          <p:nvPr userDrawn="1"/>
        </p:nvSpPr>
        <p:spPr>
          <a:xfrm>
            <a:off x="0" y="6089227"/>
            <a:ext cx="1692993" cy="7687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B3331-C82D-A304-578D-0C4710F5BC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316" y="6201530"/>
            <a:ext cx="1068646" cy="5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3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3" y="332879"/>
            <a:ext cx="11430079" cy="83661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13" y="1359878"/>
            <a:ext cx="5619788" cy="466178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502" y="1359878"/>
            <a:ext cx="5590116" cy="466178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F45D9-E598-4F34-9900-AF01B7BBB3E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1" y="312236"/>
            <a:ext cx="11334829" cy="8572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11" y="1192224"/>
            <a:ext cx="55245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11" y="1978041"/>
            <a:ext cx="5543512" cy="411368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6503" y="1192224"/>
            <a:ext cx="550556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5476" y="1978041"/>
            <a:ext cx="5505565" cy="411368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7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8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CFEE2-7314-4064-B1F3-191E675A531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8A2AA-746C-4DBB-9102-670E2680A29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3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A5276-E6AF-4E3A-BCFF-83BFC6014A2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11" y="1729212"/>
            <a:ext cx="11400407" cy="4258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1373" y="1184329"/>
            <a:ext cx="11430081" cy="369332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nl-BE" dirty="0"/>
              <a:t>Click To Edit Master Subtitle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1AB82-D72D-E71A-6ECD-1B90538CBB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AF2EF-95F1-31AE-CCEA-F43696447D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0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12" y="332879"/>
            <a:ext cx="11299476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12" y="1359878"/>
            <a:ext cx="11299476" cy="4628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4513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3043" y="6198698"/>
            <a:ext cx="9043639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 algn="ctr">
              <a:defRPr sz="1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defRPr>
            </a:lvl1pPr>
          </a:lstStyle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  <p:sp>
        <p:nvSpPr>
          <p:cNvPr id="404514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86171" y="6198698"/>
            <a:ext cx="789517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defRPr>
            </a:lvl1pPr>
          </a:lstStyle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FE7289-D1A0-BB2C-587D-71CB4259290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316" y="6201530"/>
            <a:ext cx="1068646" cy="5052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35" r:id="rId2"/>
    <p:sldLayoutId id="2147483936" r:id="rId3"/>
    <p:sldLayoutId id="2147483947" r:id="rId4"/>
    <p:sldLayoutId id="2147483948" r:id="rId5"/>
    <p:sldLayoutId id="2147483946" r:id="rId6"/>
    <p:sldLayoutId id="2147483937" r:id="rId7"/>
    <p:sldLayoutId id="2147483938" r:id="rId8"/>
    <p:sldLayoutId id="2147483939" r:id="rId9"/>
    <p:sldLayoutId id="2147483940" r:id="rId10"/>
    <p:sldLayoutId id="214748394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+mj-lt"/>
          <a:ea typeface="UGent Panno Text" charset="0"/>
          <a:cs typeface="UGent Panno Text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UGent Panno Text" charset="0"/>
          <a:cs typeface="UGent Panno Text" charset="0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10000"/>
        <a:buFont typeface="Calibri" pitchFamily="34" charset="0"/>
        <a:buChar char="•"/>
        <a:defRPr sz="2000">
          <a:solidFill>
            <a:schemeClr val="tx1"/>
          </a:solidFill>
          <a:latin typeface="+mn-lt"/>
          <a:ea typeface="UGent Panno Text" charset="0"/>
          <a:cs typeface="UGent Panno Text" charset="0"/>
        </a:defRPr>
      </a:lvl2pPr>
      <a:lvl3pPr marL="1104900" indent="-1905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UGent Panno Text" charset="0"/>
          <a:cs typeface="UGent Panno Text" charset="0"/>
        </a:defRPr>
      </a:lvl3pPr>
      <a:lvl4pPr marL="1562100" indent="-1905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itchFamily="34" charset="0"/>
        <a:buChar char="•"/>
        <a:defRPr sz="1800">
          <a:solidFill>
            <a:schemeClr val="tx1"/>
          </a:solidFill>
          <a:latin typeface="+mn-lt"/>
          <a:ea typeface="UGent Panno Text" charset="0"/>
          <a:cs typeface="UGent Panno Text" charset="0"/>
        </a:defRPr>
      </a:lvl4pPr>
      <a:lvl5pPr marL="2019300" indent="-1905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Calibri" pitchFamily="34" charset="0"/>
        <a:buChar char="–"/>
        <a:defRPr sz="1800">
          <a:solidFill>
            <a:schemeClr val="tx1"/>
          </a:solidFill>
          <a:latin typeface="+mn-lt"/>
          <a:ea typeface="UGent Panno Text" charset="0"/>
          <a:cs typeface="UGent Panno Text" charset="0"/>
        </a:defRPr>
      </a:lvl5pPr>
      <a:lvl6pPr marL="24765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337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3909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481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users.ugent.be/~cdvelde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ugentt2k.github.io/" TargetMode="External"/><Relationship Id="rId4" Type="http://schemas.openxmlformats.org/officeDocument/2006/relationships/hyperlink" Target="https://ugentai4e.github.i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GB" sz="3200" b="1" dirty="0"/>
              <a:t>Home Energy Management in the context of consumer-centric power systems:</a:t>
            </a:r>
            <a:br>
              <a:rPr lang="en-GB" sz="3200" b="1" dirty="0"/>
            </a:br>
            <a:r>
              <a:rPr lang="en-GB" sz="3200" b="1" dirty="0"/>
              <a:t>Data-efficient and explainable control algorithms to exploit energy flexibility</a:t>
            </a:r>
            <a:endParaRPr lang="nl-BE" sz="2000" b="1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53593" y="4313411"/>
            <a:ext cx="6906776" cy="1152622"/>
          </a:xfrm>
        </p:spPr>
        <p:txBody>
          <a:bodyPr anchor="ctr"/>
          <a:lstStyle/>
          <a:p>
            <a:r>
              <a:rPr lang="en-US" sz="2400" dirty="0"/>
              <a:t>Chris Develder, et al. </a:t>
            </a:r>
            <a:br>
              <a:rPr lang="en-US" sz="2400" dirty="0"/>
            </a:br>
            <a:r>
              <a:rPr lang="en-US" sz="2400" dirty="0"/>
              <a:t>AI4E Team, </a:t>
            </a:r>
            <a:r>
              <a:rPr lang="en-US" sz="2400" dirty="0" err="1"/>
              <a:t>IDLab</a:t>
            </a:r>
            <a:r>
              <a:rPr lang="en-US" sz="2400" dirty="0"/>
              <a:t>, Ghent University – imec </a:t>
            </a:r>
          </a:p>
        </p:txBody>
      </p:sp>
    </p:spTree>
    <p:extLst>
      <p:ext uri="{BB962C8B-B14F-4D97-AF65-F5344CB8AC3E}">
        <p14:creationId xmlns:p14="http://schemas.microsoft.com/office/powerpoint/2010/main" val="331560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  <a:cs typeface="宋体" charset="-122"/>
              </a:rPr>
              <a:t>Self-Introduction – Chris </a:t>
            </a:r>
            <a:r>
              <a:rPr lang="en-US" altLang="zh-CN" dirty="0" err="1">
                <a:ea typeface="宋体" charset="-122"/>
                <a:cs typeface="宋体" charset="-122"/>
              </a:rPr>
              <a:t>Develder</a:t>
            </a:r>
            <a:r>
              <a:rPr lang="en-US" altLang="zh-CN" baseline="30000" dirty="0">
                <a:solidFill>
                  <a:schemeClr val="accent2">
                    <a:lumMod val="40000"/>
                    <a:lumOff val="60000"/>
                  </a:schemeClr>
                </a:solidFill>
                <a:ea typeface="宋体" charset="-122"/>
                <a:cs typeface="宋体" charset="-122"/>
              </a:rPr>
              <a:t>[1]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76211" y="1359878"/>
            <a:ext cx="10953789" cy="473184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  <a:cs typeface="宋体" charset="-122"/>
              </a:rPr>
              <a:t>Professor at </a:t>
            </a:r>
            <a:r>
              <a:rPr lang="en-US" altLang="zh-CN" dirty="0" err="1">
                <a:ea typeface="宋体" charset="-122"/>
                <a:cs typeface="宋体" charset="-122"/>
              </a:rPr>
              <a:t>UGent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  <a:cs typeface="宋体" charset="-122"/>
              </a:rPr>
              <a:t> </a:t>
            </a:r>
            <a:r>
              <a:rPr lang="en-US" altLang="zh-CN" dirty="0">
                <a:ea typeface="宋体" charset="-122"/>
                <a:cs typeface="宋体" charset="-122"/>
              </a:rPr>
              <a:t>since Oct. 2007</a:t>
            </a:r>
          </a:p>
          <a:p>
            <a:pPr marL="485775" lvl="2"/>
            <a:r>
              <a:rPr lang="en-US" altLang="zh-CN" dirty="0">
                <a:ea typeface="宋体" charset="-122"/>
                <a:cs typeface="宋体" charset="-122"/>
              </a:rPr>
              <a:t>Research Interests:</a:t>
            </a:r>
            <a:br>
              <a:rPr lang="en-US" altLang="zh-CN" b="1" dirty="0">
                <a:solidFill>
                  <a:schemeClr val="accent3"/>
                </a:solidFill>
                <a:ea typeface="宋体" charset="-122"/>
                <a:cs typeface="宋体" charset="-122"/>
              </a:rPr>
            </a:br>
            <a:r>
              <a:rPr lang="en-US" altLang="zh-CN" b="1" dirty="0">
                <a:ea typeface="宋体" charset="-122"/>
                <a:cs typeface="宋体" charset="-122"/>
              </a:rPr>
              <a:t>- 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  <a:cs typeface="宋体" charset="-122"/>
              </a:rPr>
              <a:t>AI4E Team: Artificial intelligence for energy applications</a:t>
            </a:r>
            <a:r>
              <a:rPr lang="en-US" altLang="zh-CN" b="1" baseline="30000" dirty="0">
                <a:solidFill>
                  <a:schemeClr val="accent2">
                    <a:lumMod val="40000"/>
                    <a:lumOff val="60000"/>
                  </a:schemeClr>
                </a:solidFill>
                <a:ea typeface="宋体" charset="-122"/>
                <a:cs typeface="宋体" charset="-122"/>
              </a:rPr>
              <a:t>[2]</a:t>
            </a:r>
            <a:r>
              <a:rPr lang="en-US" altLang="zh-CN" dirty="0">
                <a:ea typeface="宋体" charset="-122"/>
                <a:cs typeface="宋体" charset="-122"/>
              </a:rPr>
              <a:t>: data analysis &amp; machine learning for the energy transition</a:t>
            </a:r>
            <a:br>
              <a:rPr lang="en-US" altLang="zh-CN" dirty="0">
                <a:ea typeface="宋体" charset="-122"/>
                <a:cs typeface="宋体" charset="-122"/>
              </a:rPr>
            </a:br>
            <a:r>
              <a:rPr lang="en-US" altLang="zh-CN" b="1" dirty="0">
                <a:ea typeface="宋体" charset="-122"/>
                <a:cs typeface="宋体" charset="-122"/>
              </a:rPr>
              <a:t>- </a:t>
            </a:r>
            <a:r>
              <a:rPr lang="en-US" altLang="zh-CN" b="1" dirty="0">
                <a:solidFill>
                  <a:schemeClr val="accent3"/>
                </a:solidFill>
                <a:ea typeface="宋体" charset="-122"/>
                <a:cs typeface="宋体" charset="-122"/>
              </a:rPr>
              <a:t>T2K Team: Natural language processing (NLP)</a:t>
            </a:r>
            <a:r>
              <a:rPr lang="en-US" altLang="zh-CN" b="1" baseline="30000" dirty="0">
                <a:solidFill>
                  <a:schemeClr val="accent2">
                    <a:lumMod val="40000"/>
                    <a:lumOff val="60000"/>
                  </a:schemeClr>
                </a:solidFill>
                <a:ea typeface="宋体" charset="-122"/>
                <a:cs typeface="宋体" charset="-122"/>
              </a:rPr>
              <a:t>[3]</a:t>
            </a:r>
            <a:r>
              <a:rPr lang="en-US" altLang="zh-CN" dirty="0">
                <a:ea typeface="宋体" charset="-122"/>
                <a:cs typeface="宋体" charset="-122"/>
              </a:rPr>
              <a:t>:</a:t>
            </a:r>
            <a:r>
              <a:rPr lang="en-US" altLang="zh-CN" b="1" dirty="0">
                <a:ea typeface="宋体" charset="-122"/>
                <a:cs typeface="宋体" charset="-122"/>
              </a:rPr>
              <a:t> </a:t>
            </a:r>
            <a:r>
              <a:rPr lang="en-US" altLang="zh-CN" dirty="0">
                <a:ea typeface="宋体" charset="-122"/>
                <a:cs typeface="宋体" charset="-122"/>
              </a:rPr>
              <a:t>information extraction (IE), conversational agents, etc.</a:t>
            </a:r>
            <a:br>
              <a:rPr lang="en-US" altLang="zh-CN" b="1" dirty="0">
                <a:ea typeface="宋体" charset="-122"/>
                <a:cs typeface="宋体" charset="-122"/>
              </a:rPr>
            </a:br>
            <a:r>
              <a:rPr lang="en-US" altLang="zh-CN" dirty="0">
                <a:ea typeface="宋体" charset="-122"/>
                <a:cs typeface="宋体" charset="-122"/>
              </a:rPr>
              <a:t>- </a:t>
            </a:r>
            <a:r>
              <a:rPr lang="en-US" altLang="zh-CN" dirty="0">
                <a:solidFill>
                  <a:schemeClr val="bg2"/>
                </a:solidFill>
                <a:ea typeface="宋体" charset="-122"/>
                <a:cs typeface="宋体" charset="-122"/>
              </a:rPr>
              <a:t>Past: track record in dimensioning and optimizing 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  <a:cs typeface="宋体" charset="-122"/>
              </a:rPr>
              <a:t>optical</a:t>
            </a:r>
            <a:r>
              <a:rPr lang="en-US" altLang="zh-CN" dirty="0">
                <a:solidFill>
                  <a:schemeClr val="bg2"/>
                </a:solidFill>
                <a:ea typeface="宋体" charset="-122"/>
                <a:cs typeface="宋体" charset="-122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  <a:cs typeface="宋体" charset="-122"/>
              </a:rPr>
              <a:t>networks</a:t>
            </a:r>
            <a:r>
              <a:rPr lang="en-US" altLang="zh-CN" b="1" dirty="0">
                <a:ea typeface="宋体" charset="-122"/>
                <a:cs typeface="宋体" charset="-122"/>
              </a:rPr>
              <a:t> </a:t>
            </a:r>
          </a:p>
          <a:p>
            <a:pPr marL="485775" lvl="2"/>
            <a:r>
              <a:rPr lang="en-US" altLang="zh-CN" dirty="0">
                <a:ea typeface="宋体" charset="-122"/>
                <a:cs typeface="宋体" charset="-122"/>
              </a:rPr>
              <a:t>Visiting researcher at UC Davis, CA, USA, Jul-Oct. 2007  (optical networks)</a:t>
            </a:r>
          </a:p>
          <a:p>
            <a:pPr marL="485775" lvl="2" eaLnBrk="1" hangingPunct="1"/>
            <a:r>
              <a:rPr lang="en-US" altLang="zh-CN" dirty="0">
                <a:ea typeface="宋体" charset="-122"/>
                <a:cs typeface="宋体" charset="-122"/>
              </a:rPr>
              <a:t>Visiting researcher at Columbia Univ., NY, USA, 2013-15  (IE &amp; information retrieval)</a:t>
            </a:r>
          </a:p>
          <a:p>
            <a:pPr marL="485775" lvl="2" eaLnBrk="1" hangingPunct="1"/>
            <a:endParaRPr lang="en-US" altLang="zh-CN" sz="900" dirty="0">
              <a:ea typeface="宋体" charset="-122"/>
              <a:cs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  <a:cs typeface="宋体" charset="-122"/>
              </a:rPr>
              <a:t>Industry Experience: Network planning/design tools</a:t>
            </a:r>
          </a:p>
          <a:p>
            <a:pPr marL="485775" lvl="2" eaLnBrk="1" hangingPunct="1"/>
            <a:r>
              <a:rPr lang="en-US" altLang="zh-CN" dirty="0">
                <a:ea typeface="宋体" charset="-122"/>
                <a:cs typeface="宋体" charset="-122"/>
              </a:rPr>
              <a:t>Former OPNET Technologies, 2004-2005</a:t>
            </a:r>
          </a:p>
          <a:p>
            <a:pPr marL="485775" lvl="2" eaLnBrk="1" hangingPunct="1"/>
            <a:endParaRPr lang="en-US" altLang="zh-CN" sz="900" dirty="0">
              <a:ea typeface="宋体" charset="-122"/>
              <a:cs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  <a:cs typeface="宋体" charset="-122"/>
              </a:rPr>
              <a:t>PhD in optical networking, </a:t>
            </a:r>
            <a:r>
              <a:rPr lang="en-US" altLang="zh-CN" dirty="0" err="1">
                <a:ea typeface="宋体" charset="-122"/>
                <a:cs typeface="宋体" charset="-122"/>
              </a:rPr>
              <a:t>UGent</a:t>
            </a:r>
            <a:r>
              <a:rPr lang="en-US" altLang="zh-CN" dirty="0">
                <a:ea typeface="宋体" charset="-122"/>
                <a:cs typeface="宋体" charset="-122"/>
              </a:rPr>
              <a:t>, 1999-2003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335172" y="4961333"/>
            <a:ext cx="37415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/>
              </a:buClr>
              <a:tabLst>
                <a:tab pos="260350" algn="l"/>
                <a:tab pos="5416550" algn="l"/>
              </a:tabLst>
            </a:pP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[1]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	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  <a:hlinkClick r:id="rId3"/>
              </a:rPr>
              <a:t>http://users.ugent.be/~cdvelder/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  <a:ea typeface="UGent Panno Text" charset="0"/>
              <a:cs typeface="UGent Panno Text" charset="0"/>
            </a:endParaRPr>
          </a:p>
          <a:p>
            <a:pPr marL="0" lvl="1">
              <a:buClr>
                <a:schemeClr val="accent6"/>
              </a:buClr>
              <a:tabLst>
                <a:tab pos="260350" algn="l"/>
                <a:tab pos="5416550" algn="l"/>
              </a:tabLst>
            </a:pP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[2]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	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  <a:hlinkClick r:id="rId4"/>
              </a:rPr>
              <a:t>https://ugentai4e.github.io/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  </a:t>
            </a:r>
          </a:p>
          <a:p>
            <a:pPr marL="0" lvl="1">
              <a:buClr>
                <a:schemeClr val="accent6"/>
              </a:buClr>
              <a:tabLst>
                <a:tab pos="260350" algn="l"/>
                <a:tab pos="5416550" algn="l"/>
              </a:tabLst>
            </a:pP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[3]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	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  <a:hlinkClick r:id="rId5"/>
              </a:rPr>
              <a:t>https://ugentt2k.github.io/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606E1-AD7D-B9F5-DAE8-AADDB025E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6524" y="332879"/>
            <a:ext cx="1370407" cy="13704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A7E6D-39AE-B90C-29AE-54466D707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3091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4400" y="712856"/>
            <a:ext cx="10363200" cy="1141619"/>
          </a:xfrm>
        </p:spPr>
        <p:txBody>
          <a:bodyPr anchor="ctr"/>
          <a:lstStyle/>
          <a:p>
            <a:r>
              <a:rPr lang="en-GB" dirty="0"/>
              <a:t>The AI4E team at </a:t>
            </a:r>
            <a:r>
              <a:rPr lang="en-GB" dirty="0" err="1"/>
              <a:t>IDLab</a:t>
            </a:r>
            <a:r>
              <a:rPr lang="en-GB" dirty="0"/>
              <a:t>, Ghent University </a:t>
            </a:r>
            <a:endParaRPr lang="nl-BE" u="none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1927B9-4DEA-47FD-42B7-6BD96C328F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92993" y="6198698"/>
            <a:ext cx="9394108" cy="406400"/>
          </a:xfrm>
        </p:spPr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423ED32-4B0A-05FA-0C5F-54F07CC85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9800" y="5175830"/>
            <a:ext cx="7772400" cy="1022868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https://ugentai4e.github.io/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D06AF7-6F05-9170-8371-0822AA419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337" y="1854475"/>
            <a:ext cx="72263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1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F7057E-D7C0-5F56-9B72-95FBC670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BE" dirty="0"/>
              <a:t>ESEARCH TRACKS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872B0-6BF2-DC85-780B-9C2BFB6F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11" y="1221052"/>
            <a:ext cx="11400407" cy="464206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nl-BE" dirty="0">
                <a:latin typeface="+mn-lt"/>
                <a:cs typeface="Calibri" panose="020F0502020204030204" pitchFamily="34" charset="0"/>
              </a:rPr>
              <a:t>Data-driven decision making for . . 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F175EE-4A0D-ACD9-DC93-3731E806471D}"/>
              </a:ext>
            </a:extLst>
          </p:cNvPr>
          <p:cNvGrpSpPr/>
          <p:nvPr/>
        </p:nvGrpSpPr>
        <p:grpSpPr>
          <a:xfrm>
            <a:off x="516154" y="1897021"/>
            <a:ext cx="1122609" cy="1112409"/>
            <a:chOff x="387116" y="1595194"/>
            <a:chExt cx="841957" cy="834307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CB47DDF-3971-B69C-4D12-A7E208AEB6E9}"/>
                </a:ext>
              </a:extLst>
            </p:cNvPr>
            <p:cNvSpPr/>
            <p:nvPr/>
          </p:nvSpPr>
          <p:spPr>
            <a:xfrm>
              <a:off x="387116" y="1595194"/>
              <a:ext cx="841957" cy="83430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1867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9A1732-B2FB-429A-1D9A-298E34E57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116" y="1696250"/>
              <a:ext cx="720000" cy="63219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37EAF3B-197D-FB71-82E4-12AB94EE1AB8}"/>
              </a:ext>
            </a:extLst>
          </p:cNvPr>
          <p:cNvSpPr txBox="1"/>
          <p:nvPr/>
        </p:nvSpPr>
        <p:spPr>
          <a:xfrm>
            <a:off x="1798320" y="1774102"/>
            <a:ext cx="10179505" cy="401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2676" indent="-302676">
              <a:lnSpc>
                <a:spcPct val="120000"/>
              </a:lnSpc>
              <a:buAutoNum type="arabicParenR"/>
            </a:pPr>
            <a:r>
              <a:rPr lang="nl-BE" sz="2133" b="1" u="sng" dirty="0">
                <a:solidFill>
                  <a:schemeClr val="accent3"/>
                </a:solidFill>
                <a:latin typeface="+mn-lt"/>
                <a:cs typeface="Calibri" panose="020F0502020204030204" pitchFamily="34" charset="0"/>
              </a:rPr>
              <a:t>Home Energy Management</a:t>
            </a:r>
            <a:r>
              <a:rPr lang="nl-BE" sz="2133" b="1" dirty="0">
                <a:solidFill>
                  <a:schemeClr val="accent3"/>
                </a:solidFill>
                <a:latin typeface="+mn-lt"/>
                <a:cs typeface="Calibri" panose="020F0502020204030204" pitchFamily="34" charset="0"/>
              </a:rPr>
              <a:t> (HEM)</a:t>
            </a:r>
            <a:endParaRPr lang="nl-BE" sz="2133" b="1" u="sng" dirty="0">
              <a:solidFill>
                <a:schemeClr val="accent3"/>
              </a:solidFill>
              <a:latin typeface="+mn-lt"/>
              <a:cs typeface="Calibri" panose="020F0502020204030204" pitchFamily="34" charset="0"/>
            </a:endParaRPr>
          </a:p>
          <a:p>
            <a:pPr marL="592652" lvl="1" indent="-23282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133" dirty="0">
                <a:latin typeface="+mn-lt"/>
                <a:cs typeface="Calibri" panose="020F0502020204030204" pitchFamily="34" charset="0"/>
              </a:rPr>
              <a:t>Value stacking (capacity tariff / dynamic pricing / ...)</a:t>
            </a:r>
          </a:p>
          <a:p>
            <a:pPr marL="592652" lvl="1" indent="-23282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133" dirty="0">
                <a:latin typeface="+mn-lt"/>
                <a:cs typeface="Calibri" panose="020F0502020204030204" pitchFamily="34" charset="0"/>
              </a:rPr>
              <a:t>Heterogeneous households (Heat pump / EV / Home battery / Thermal Storage)</a:t>
            </a:r>
          </a:p>
          <a:p>
            <a:pPr marL="302676" indent="-302676">
              <a:lnSpc>
                <a:spcPct val="120000"/>
              </a:lnSpc>
              <a:buAutoNum type="arabicParenR"/>
            </a:pPr>
            <a:r>
              <a:rPr lang="nl-BE" sz="2133" b="1" dirty="0">
                <a:solidFill>
                  <a:srgbClr val="149E75"/>
                </a:solidFill>
                <a:latin typeface="+mn-lt"/>
                <a:cs typeface="Calibri" panose="020F0502020204030204" pitchFamily="34" charset="0"/>
              </a:rPr>
              <a:t>Real/short-time (24h down to 1s) </a:t>
            </a:r>
            <a:r>
              <a:rPr lang="nl-BE" sz="2133" b="1" u="sng" dirty="0">
                <a:solidFill>
                  <a:srgbClr val="149E75"/>
                </a:solidFill>
                <a:latin typeface="+mn-lt"/>
                <a:cs typeface="Calibri" panose="020F0502020204030204" pitchFamily="34" charset="0"/>
              </a:rPr>
              <a:t>flexibility optimization</a:t>
            </a:r>
          </a:p>
          <a:p>
            <a:pPr marL="592652" lvl="1" indent="-23282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133" dirty="0">
                <a:latin typeface="+mn-lt"/>
                <a:cs typeface="Calibri" panose="020F0502020204030204" pitchFamily="34" charset="0"/>
              </a:rPr>
              <a:t>Multi-market day-ahead and real-time trading in energy and flexibility markets (EU/UK)</a:t>
            </a:r>
          </a:p>
          <a:p>
            <a:pPr marL="592652" lvl="1" indent="-23282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133" dirty="0">
                <a:latin typeface="+mn-lt"/>
                <a:cs typeface="Calibri" panose="020F0502020204030204" pitchFamily="34" charset="0"/>
              </a:rPr>
              <a:t>Multi-asset flexibility coordination, focusing on residential flexibilit</a:t>
            </a:r>
            <a:r>
              <a:rPr lang="nl-BE" sz="2133" dirty="0">
                <a:solidFill>
                  <a:srgbClr val="E59D02"/>
                </a:solidFill>
                <a:latin typeface="+mn-lt"/>
                <a:cs typeface="Calibri" panose="020F0502020204030204" pitchFamily="34" charset="0"/>
              </a:rPr>
              <a:t>y</a:t>
            </a:r>
          </a:p>
          <a:p>
            <a:pPr marL="302676" indent="-302676">
              <a:lnSpc>
                <a:spcPct val="120000"/>
              </a:lnSpc>
              <a:buAutoNum type="arabicParenR"/>
            </a:pPr>
            <a:r>
              <a:rPr lang="nl-BE" sz="2133" b="1" dirty="0">
                <a:solidFill>
                  <a:srgbClr val="E59D02"/>
                </a:solidFill>
                <a:latin typeface="+mn-lt"/>
                <a:cs typeface="Calibri" panose="020F0502020204030204" pitchFamily="34" charset="0"/>
              </a:rPr>
              <a:t>Support tools for </a:t>
            </a:r>
            <a:r>
              <a:rPr lang="nl-BE" sz="2133" b="1" u="sng" dirty="0">
                <a:solidFill>
                  <a:srgbClr val="E59D02"/>
                </a:solidFill>
                <a:latin typeface="+mn-lt"/>
                <a:cs typeface="Calibri" panose="020F0502020204030204" pitchFamily="34" charset="0"/>
              </a:rPr>
              <a:t>power system operators</a:t>
            </a:r>
          </a:p>
          <a:p>
            <a:pPr marL="592652" lvl="1" indent="-23282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133" dirty="0">
                <a:latin typeface="+mn-lt"/>
                <a:cs typeface="Calibri" panose="020F0502020204030204" pitchFamily="34" charset="0"/>
              </a:rPr>
              <a:t>Decision support for consumer-centric market vision</a:t>
            </a:r>
            <a:br>
              <a:rPr lang="nl-BE" sz="2133" dirty="0">
                <a:latin typeface="+mn-lt"/>
                <a:cs typeface="Calibri" panose="020F0502020204030204" pitchFamily="34" charset="0"/>
              </a:rPr>
            </a:br>
            <a:r>
              <a:rPr lang="nl-BE" sz="2133" dirty="0">
                <a:latin typeface="+mn-lt"/>
                <a:cs typeface="Calibri" panose="020F0502020204030204" pitchFamily="34" charset="0"/>
              </a:rPr>
              <a:t>(Imbalance forecasting; RTP price calculations; digital twins …)</a:t>
            </a:r>
          </a:p>
          <a:p>
            <a:pPr marL="592652" lvl="1" indent="-23282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133" dirty="0">
                <a:latin typeface="+mn-lt"/>
                <a:cs typeface="Calibri" panose="020F0502020204030204" pitchFamily="34" charset="0"/>
              </a:rPr>
              <a:t>State estimation and forecasting (DSO/TSO)</a:t>
            </a:r>
            <a:endParaRPr lang="en-BE" sz="2133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FAF5DD-AD02-9C2A-5702-9AB8117AA9A4}"/>
              </a:ext>
            </a:extLst>
          </p:cNvPr>
          <p:cNvGrpSpPr/>
          <p:nvPr/>
        </p:nvGrpSpPr>
        <p:grpSpPr>
          <a:xfrm>
            <a:off x="516154" y="3183921"/>
            <a:ext cx="1122609" cy="1112409"/>
            <a:chOff x="401375" y="2624807"/>
            <a:chExt cx="841957" cy="834307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E4EAE4E-0913-C693-E691-16445F93E633}"/>
                </a:ext>
              </a:extLst>
            </p:cNvPr>
            <p:cNvSpPr/>
            <p:nvPr/>
          </p:nvSpPr>
          <p:spPr>
            <a:xfrm>
              <a:off x="401375" y="2624807"/>
              <a:ext cx="841957" cy="834307"/>
            </a:xfrm>
            <a:prstGeom prst="roundRect">
              <a:avLst/>
            </a:prstGeom>
            <a:solidFill>
              <a:srgbClr val="149E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1867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3C7DD9-76A9-691A-2A2B-ED044FFAA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353" y="2725863"/>
              <a:ext cx="720000" cy="63219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767B38-1ECA-EA7C-04A7-B097F39ED24C}"/>
              </a:ext>
            </a:extLst>
          </p:cNvPr>
          <p:cNvGrpSpPr/>
          <p:nvPr/>
        </p:nvGrpSpPr>
        <p:grpSpPr>
          <a:xfrm>
            <a:off x="516154" y="4470821"/>
            <a:ext cx="1122609" cy="1112409"/>
            <a:chOff x="387115" y="3648116"/>
            <a:chExt cx="841957" cy="83430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F4A6D4A-3F84-98A4-FB93-2720BFBC78AB}"/>
                </a:ext>
              </a:extLst>
            </p:cNvPr>
            <p:cNvSpPr/>
            <p:nvPr/>
          </p:nvSpPr>
          <p:spPr>
            <a:xfrm>
              <a:off x="387115" y="3648116"/>
              <a:ext cx="841957" cy="834307"/>
            </a:xfrm>
            <a:prstGeom prst="roundRect">
              <a:avLst/>
            </a:prstGeom>
            <a:solidFill>
              <a:srgbClr val="E59D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1867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7785C4-BEB6-F5FC-D11F-4025C8CA8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093" y="3749172"/>
              <a:ext cx="720000" cy="632195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C1C670-EE82-147C-7379-390A505AB4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1266-66E2-A4A4-2E0C-9A6385BE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b="1" dirty="0"/>
              <a:t>TECHNOLOGY</a:t>
            </a:r>
            <a:endParaRPr lang="en-BE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BBC1-897A-18ED-E75B-4672ABDC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11" y="1270670"/>
            <a:ext cx="11400407" cy="47318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BE" dirty="0">
                <a:cs typeface="Calibri" panose="020F0502020204030204" pitchFamily="34" charset="0"/>
              </a:rPr>
              <a:t>Creating </a:t>
            </a:r>
            <a:r>
              <a:rPr lang="nl-BE" b="1" dirty="0">
                <a:solidFill>
                  <a:schemeClr val="accent3"/>
                </a:solidFill>
                <a:cs typeface="Calibri" panose="020F0502020204030204" pitchFamily="34" charset="0"/>
              </a:rPr>
              <a:t>scalable / practical / intuitive / performant AI</a:t>
            </a:r>
            <a:r>
              <a:rPr lang="nl-BE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nl-BE" dirty="0">
                <a:cs typeface="Calibri" panose="020F0502020204030204" pitchFamily="34" charset="0"/>
              </a:rPr>
              <a:t>that is . . .</a:t>
            </a:r>
          </a:p>
          <a:p>
            <a:pPr marL="302252" indent="-302252">
              <a:buFont typeface="Arial" panose="020B0604020202020204" pitchFamily="34" charset="0"/>
              <a:buChar char="•"/>
            </a:pPr>
            <a:r>
              <a:rPr lang="nl-BE" dirty="0">
                <a:cs typeface="Calibri" panose="020F0502020204030204" pitchFamily="34" charset="0"/>
              </a:rPr>
              <a:t>fit-for-</a:t>
            </a:r>
            <a:r>
              <a:rPr lang="nl-BE" u="sng" dirty="0">
                <a:cs typeface="Calibri" panose="020F0502020204030204" pitchFamily="34" charset="0"/>
              </a:rPr>
              <a:t>purpose</a:t>
            </a:r>
            <a:r>
              <a:rPr lang="nl-BE" dirty="0">
                <a:cs typeface="Calibri" panose="020F0502020204030204" pitchFamily="34" charset="0"/>
              </a:rPr>
              <a:t> (provide a solution, not a method)</a:t>
            </a:r>
          </a:p>
          <a:p>
            <a:pPr marL="302252" indent="-302252">
              <a:buFont typeface="Arial" panose="020B0604020202020204" pitchFamily="34" charset="0"/>
              <a:buChar char="•"/>
            </a:pPr>
            <a:r>
              <a:rPr lang="nl-BE" dirty="0">
                <a:cs typeface="Calibri" panose="020F0502020204030204" pitchFamily="34" charset="0"/>
              </a:rPr>
              <a:t>a </a:t>
            </a:r>
            <a:r>
              <a:rPr lang="nl-BE" u="sng" dirty="0">
                <a:cs typeface="Calibri" panose="020F0502020204030204" pitchFamily="34" charset="0"/>
              </a:rPr>
              <a:t>holistic</a:t>
            </a:r>
            <a:r>
              <a:rPr lang="nl-BE" dirty="0">
                <a:cs typeface="Calibri" panose="020F0502020204030204" pitchFamily="34" charset="0"/>
              </a:rPr>
              <a:t> solution, not just an optimizer (incl. technical/regulatory/legal/... constraints)</a:t>
            </a:r>
          </a:p>
          <a:p>
            <a:pPr>
              <a:buFont typeface="Arial" panose="020B0604020202020204" pitchFamily="34" charset="0"/>
              <a:buChar char="•"/>
            </a:pPr>
            <a:endParaRPr lang="nl-BE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l-BE" dirty="0">
                <a:cs typeface="Calibri" panose="020F0502020204030204" pitchFamily="34" charset="0"/>
              </a:rPr>
              <a:t>Focusing on</a:t>
            </a:r>
          </a:p>
          <a:p>
            <a:pPr marL="302252" indent="-302252">
              <a:buFont typeface="Arial" panose="020B0604020202020204" pitchFamily="34" charset="0"/>
              <a:buChar char="•"/>
            </a:pPr>
            <a:r>
              <a:rPr lang="nl-BE" u="sng" dirty="0">
                <a:cs typeface="Calibri"/>
              </a:rPr>
              <a:t>Neural network</a:t>
            </a:r>
            <a:r>
              <a:rPr lang="nl-BE" dirty="0">
                <a:cs typeface="Calibri"/>
              </a:rPr>
              <a:t> architectures, e.g.:</a:t>
            </a:r>
          </a:p>
          <a:p>
            <a:pPr marL="780607" lvl="1" indent="-302252">
              <a:buFontTx/>
              <a:buChar char="-"/>
            </a:pPr>
            <a:r>
              <a:rPr lang="nl-BE" dirty="0">
                <a:cs typeface="Calibri" panose="020F0502020204030204" pitchFamily="34" charset="0"/>
              </a:rPr>
              <a:t>Physics-informed neural networks and transfer learning: obtain practical and intuitive (explainable) solutions</a:t>
            </a:r>
          </a:p>
          <a:p>
            <a:pPr marL="780607" lvl="1" indent="-302252">
              <a:buFontTx/>
              <a:buChar char="-"/>
            </a:pPr>
            <a:r>
              <a:rPr lang="nl-BE" dirty="0">
                <a:cs typeface="Calibri" panose="020F0502020204030204" pitchFamily="34" charset="0"/>
              </a:rPr>
              <a:t>Graph Neural Networks (natural fit with power systems): trading / grid solutions / agent interactions</a:t>
            </a:r>
          </a:p>
          <a:p>
            <a:pPr marL="780607" lvl="1" indent="-302252">
              <a:buFontTx/>
              <a:buChar char="-"/>
            </a:pPr>
            <a:r>
              <a:rPr lang="nl-BE" dirty="0">
                <a:cs typeface="Calibri" panose="020F0502020204030204" pitchFamily="34" charset="0"/>
              </a:rPr>
              <a:t>Architectures that can handle long time series (e.g., transformers)</a:t>
            </a:r>
          </a:p>
          <a:p>
            <a:pPr marL="302252" indent="-302252">
              <a:buFont typeface="Arial" panose="020B0604020202020204" pitchFamily="34" charset="0"/>
              <a:buChar char="•"/>
            </a:pPr>
            <a:r>
              <a:rPr lang="nl-BE" u="sng" dirty="0">
                <a:cs typeface="Calibri"/>
              </a:rPr>
              <a:t>Data-driven decision making</a:t>
            </a:r>
          </a:p>
          <a:p>
            <a:pPr marL="780607" lvl="1" indent="-302252">
              <a:buFontTx/>
              <a:buChar char="-"/>
            </a:pPr>
            <a:r>
              <a:rPr lang="nl-BE" dirty="0">
                <a:cs typeface="Calibri" panose="020F0502020204030204" pitchFamily="34" charset="0"/>
              </a:rPr>
              <a:t>Blending rule-based (apprentice learning) / model-based (MPC) / model-free (Reinforcement Learning)</a:t>
            </a:r>
          </a:p>
          <a:p>
            <a:pPr marL="780607" lvl="1" indent="-302252">
              <a:buFontTx/>
              <a:buChar char="-"/>
            </a:pPr>
            <a:r>
              <a:rPr lang="nl-BE" dirty="0">
                <a:cs typeface="Calibri" panose="020F0502020204030204" pitchFamily="34" charset="0"/>
              </a:rPr>
              <a:t>Transfer learning and multi-agent decision making</a:t>
            </a:r>
          </a:p>
          <a:p>
            <a:pPr marL="780607" lvl="1" indent="-302252">
              <a:buFontTx/>
              <a:buChar char="-"/>
            </a:pPr>
            <a:endParaRPr lang="nl-BE" dirty="0">
              <a:cs typeface="Calibri" panose="020F0502020204030204" pitchFamily="34" charset="0"/>
            </a:endParaRPr>
          </a:p>
          <a:p>
            <a:pPr marL="780607" lvl="1" indent="-302252">
              <a:buFontTx/>
              <a:buChar char="-"/>
            </a:pPr>
            <a:endParaRPr lang="nl-B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BE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2E142-EF22-C560-FF49-5B4B2FBF68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90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36280" y="1249148"/>
            <a:ext cx="7772400" cy="1780813"/>
          </a:xfrm>
        </p:spPr>
        <p:txBody>
          <a:bodyPr anchor="b"/>
          <a:lstStyle/>
          <a:p>
            <a:pPr>
              <a:lnSpc>
                <a:spcPct val="80000"/>
              </a:lnSpc>
            </a:pPr>
            <a:r>
              <a:rPr lang="en-US" sz="6000" dirty="0"/>
              <a:t>Thank you!</a:t>
            </a:r>
            <a:br>
              <a:rPr lang="en-US" sz="6000" dirty="0"/>
            </a:br>
            <a:r>
              <a:rPr lang="en-US" sz="6000" dirty="0"/>
              <a:t>Any questions?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236280" y="3248607"/>
            <a:ext cx="7772400" cy="1263652"/>
          </a:xfrm>
        </p:spPr>
        <p:txBody>
          <a:bodyPr/>
          <a:lstStyle/>
          <a:p>
            <a:r>
              <a:rPr lang="en-US" dirty="0"/>
              <a:t>chris.develder@ugent.be</a:t>
            </a:r>
          </a:p>
          <a:p>
            <a:r>
              <a:rPr lang="en-US" dirty="0"/>
              <a:t>http://users.ugent.be/~</a:t>
            </a:r>
            <a:r>
              <a:rPr lang="en-US" dirty="0" err="1"/>
              <a:t>cdvelder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43F6AE-46F6-E87B-2C52-814676C247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92993" y="6198698"/>
            <a:ext cx="9394108" cy="406400"/>
          </a:xfrm>
        </p:spPr>
        <p:txBody>
          <a:bodyPr/>
          <a:lstStyle/>
          <a:p>
            <a:pPr>
              <a:defRPr/>
            </a:pPr>
            <a:r>
              <a:rPr lang="nl-BE"/>
              <a:t>C. Develder, et al., "Home Energy Management in the context of consumer-centric power systems", Daikin TIC, Osaka, Japan, 30 Oct. 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21481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BlueBird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277E51"/>
      </a:accent1>
      <a:accent2>
        <a:srgbClr val="394992"/>
      </a:accent2>
      <a:accent3>
        <a:srgbClr val="C00000"/>
      </a:accent3>
      <a:accent4>
        <a:srgbClr val="FAC05E"/>
      </a:accent4>
      <a:accent5>
        <a:srgbClr val="75B594"/>
      </a:accent5>
      <a:accent6>
        <a:srgbClr val="5D3612"/>
      </a:accent6>
      <a:hlink>
        <a:srgbClr val="394992"/>
      </a:hlink>
      <a:folHlink>
        <a:srgbClr val="39499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11">
        <a:dk1>
          <a:srgbClr val="000000"/>
        </a:dk1>
        <a:lt1>
          <a:srgbClr val="FFFFFF"/>
        </a:lt1>
        <a:dk2>
          <a:srgbClr val="CC00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00000"/>
        </a:dk1>
        <a:lt1>
          <a:srgbClr val="FFFFFF"/>
        </a:lt1>
        <a:dk2>
          <a:srgbClr val="CC0066"/>
        </a:dk2>
        <a:lt2>
          <a:srgbClr val="BFB5B3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CC0066"/>
        </a:dk2>
        <a:lt2>
          <a:srgbClr val="BFB5B3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BED649"/>
        </a:hlink>
        <a:folHlink>
          <a:srgbClr val="8EA32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CC0066"/>
        </a:dk2>
        <a:lt2>
          <a:srgbClr val="BFB5B3"/>
        </a:lt2>
        <a:accent1>
          <a:srgbClr val="BED649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DBE8B1"/>
        </a:accent5>
        <a:accent6>
          <a:srgbClr val="E72D00"/>
        </a:accent6>
        <a:hlink>
          <a:srgbClr val="CC0066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D40056"/>
        </a:dk2>
        <a:lt2>
          <a:srgbClr val="BFB5B3"/>
        </a:lt2>
        <a:accent1>
          <a:srgbClr val="BED649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DBE8B1"/>
        </a:accent5>
        <a:accent6>
          <a:srgbClr val="E72D00"/>
        </a:accent6>
        <a:hlink>
          <a:srgbClr val="C81E7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ed4265-3024-4e76-939f-b50d44f98f45">
      <Terms xmlns="http://schemas.microsoft.com/office/infopath/2007/PartnerControls"/>
    </lcf76f155ced4ddcb4097134ff3c332f>
    <TaxCatchAll xmlns="35fc29c8-c736-43f7-b2d0-7091e39bc6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12D056080BC47A87695EC0204DC7E" ma:contentTypeVersion="25" ma:contentTypeDescription="Crée un document." ma:contentTypeScope="" ma:versionID="98b2a1a553db6a7b4b78016b0840471e">
  <xsd:schema xmlns:xsd="http://www.w3.org/2001/XMLSchema" xmlns:xs="http://www.w3.org/2001/XMLSchema" xmlns:p="http://schemas.microsoft.com/office/2006/metadata/properties" xmlns:ns2="6eed4265-3024-4e76-939f-b50d44f98f45" xmlns:ns3="35fc29c8-c736-43f7-b2d0-7091e39bc605" targetNamespace="http://schemas.microsoft.com/office/2006/metadata/properties" ma:root="true" ma:fieldsID="867f8c031cfd2b779a21be5ed71b7c9e" ns2:_="" ns3:_="">
    <xsd:import namespace="6eed4265-3024-4e76-939f-b50d44f98f45"/>
    <xsd:import namespace="35fc29c8-c736-43f7-b2d0-7091e39bc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ed4265-3024-4e76-939f-b50d44f98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ece1a9e-e829-42a2-80ca-4303f8678d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c29c8-c736-43f7-b2d0-7091e39bc6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68ac6d-c18a-43cc-96dd-008f92a2b2f5}" ma:internalName="TaxCatchAll" ma:showField="CatchAllData" ma:web="35fc29c8-c736-43f7-b2d0-7091e39bc6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16F73A-4059-4CEB-80D4-EA76D4B2E6A5}">
  <ds:schemaRefs>
    <ds:schemaRef ds:uri="http://schemas.microsoft.com/office/2006/metadata/properties"/>
    <ds:schemaRef ds:uri="http://schemas.microsoft.com/office/infopath/2007/PartnerControls"/>
    <ds:schemaRef ds:uri="6eed4265-3024-4e76-939f-b50d44f98f45"/>
    <ds:schemaRef ds:uri="35fc29c8-c736-43f7-b2d0-7091e39bc605"/>
  </ds:schemaRefs>
</ds:datastoreItem>
</file>

<file path=customXml/itemProps2.xml><?xml version="1.0" encoding="utf-8"?>
<ds:datastoreItem xmlns:ds="http://schemas.openxmlformats.org/officeDocument/2006/customXml" ds:itemID="{B15951D2-98B4-421C-BC09-C9E305EBAE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4A4E44-386C-4BAA-A02F-A66247A49D93}"/>
</file>

<file path=docMetadata/LabelInfo.xml><?xml version="1.0" encoding="utf-8"?>
<clbl:labelList xmlns:clbl="http://schemas.microsoft.com/office/2020/mipLabelMetadata">
  <clbl:label id="{6c04a875-6eb2-484b-a14b-e2519851b720}" enabled="1" method="Standard" siteId="{14cb4ab4-62b8-45a2-a944-e225383ee1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Theme_UGent</Template>
  <TotalTime>62447</TotalTime>
  <Words>630</Words>
  <Application>Microsoft Office PowerPoint</Application>
  <PresentationFormat>Panorámica</PresentationFormat>
  <Paragraphs>54</Paragraphs>
  <Slides>6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Presentation</vt:lpstr>
      <vt:lpstr>Home Energy Management in the context of consumer-centric power systems: Data-efficient and explainable control algorithms to exploit energy flexibility</vt:lpstr>
      <vt:lpstr>Self-Introduction – Chris Develder[1]</vt:lpstr>
      <vt:lpstr>The AI4E team at IDLab, Ghent University </vt:lpstr>
      <vt:lpstr>RESEARCH TRACKS</vt:lpstr>
      <vt:lpstr>TECHNOLOGY</vt:lpstr>
      <vt:lpstr>Thank you! Any questions?</vt:lpstr>
    </vt:vector>
  </TitlesOfParts>
  <Manager/>
  <Company>UGent - imec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BlueBird Presentation Template</dc:title>
  <dc:subject/>
  <dc:creator>Chris Develder</dc:creator>
  <cp:keywords/>
  <dc:description/>
  <cp:lastModifiedBy>Chris Develder (UGent-imec)</cp:lastModifiedBy>
  <cp:revision>1320</cp:revision>
  <cp:lastPrinted>2024-10-30T09:38:46Z</cp:lastPrinted>
  <dcterms:created xsi:type="dcterms:W3CDTF">2008-06-23T13:32:26Z</dcterms:created>
  <dcterms:modified xsi:type="dcterms:W3CDTF">2025-01-13T14:10:34Z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ContentTypeId">
    <vt:lpwstr>0x01010038012D056080BC47A87695EC0204DC7E</vt:lpwstr>
  </property>
  <property fmtid="{D5CDD505-2E9C-101B-9397-08002B2CF9AE}" pid="4" name="MediaServiceImageTags">
    <vt:lpwstr/>
  </property>
</Properties>
</file>