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0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67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AFD2F0"/>
    <a:srgbClr val="FFFFFF"/>
    <a:srgbClr val="00CC99"/>
    <a:srgbClr val="F66C41"/>
    <a:srgbClr val="00664D"/>
    <a:srgbClr val="1643A5"/>
    <a:srgbClr val="00166A"/>
    <a:srgbClr val="D9D9D9"/>
    <a:srgbClr val="E6E6E6"/>
    <a:srgbClr val="EAB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49" autoAdjust="0"/>
    <p:restoredTop sz="80889" autoAdjust="0"/>
  </p:normalViewPr>
  <p:slideViewPr>
    <p:cSldViewPr snapToGrid="0">
      <p:cViewPr varScale="1">
        <p:scale>
          <a:sx n="66" d="100"/>
          <a:sy n="66" d="100"/>
        </p:scale>
        <p:origin x="1402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1696"/>
    </p:cViewPr>
  </p:outlin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66" d="100"/>
        <a:sy n="66" d="100"/>
      </p:scale>
      <p:origin x="0" y="5352"/>
    </p:cViewPr>
  </p:sorterViewPr>
  <p:notesViewPr>
    <p:cSldViewPr snapToGrid="0">
      <p:cViewPr varScale="1">
        <p:scale>
          <a:sx n="157" d="100"/>
          <a:sy n="157" d="100"/>
        </p:scale>
        <p:origin x="296" y="17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213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213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3995E533-E32F-4BB7-A2C7-95796231553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233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213" y="1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66" y="4559956"/>
            <a:ext cx="5851471" cy="4320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213" y="9119908"/>
            <a:ext cx="3170265" cy="47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70" tIns="45835" rIns="91670" bIns="45835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47D07E1-450F-4D21-88F2-2F1F63C1D3B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90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3975258" y="2"/>
            <a:ext cx="8216744" cy="6841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998" tIns="26999" rIns="53998" bIns="26999" rtlCol="0" anchor="ctr"/>
          <a:lstStyle/>
          <a:p>
            <a:pPr algn="ctr"/>
            <a:endParaRPr lang="en-GB" sz="1600"/>
          </a:p>
        </p:txBody>
      </p:sp>
      <p:sp>
        <p:nvSpPr>
          <p:cNvPr id="41" name="Rectangle 15"/>
          <p:cNvSpPr>
            <a:spLocks noGrp="1" noChangeArrowheads="1"/>
          </p:cNvSpPr>
          <p:nvPr>
            <p:ph type="ftr" sz="quarter" idx="10"/>
          </p:nvPr>
        </p:nvSpPr>
        <p:spPr>
          <a:xfrm>
            <a:off x="4253593" y="6198698"/>
            <a:ext cx="6822924" cy="406400"/>
          </a:xfrm>
        </p:spPr>
        <p:txBody>
          <a:bodyPr/>
          <a:lstStyle>
            <a:lvl1pPr algn="l">
              <a:defRPr i="0" smtClean="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endParaRPr lang="nl-NL" dirty="0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253593" y="1593520"/>
            <a:ext cx="6906776" cy="1719263"/>
          </a:xfrm>
          <a:noFill/>
        </p:spPr>
        <p:txBody>
          <a:bodyPr anchor="b"/>
          <a:lstStyle>
            <a:lvl1pPr marL="354013" indent="0">
              <a:defRPr sz="4400" b="1" u="none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HET OPMAAKPROFIEL VAN DE MODELTITEL TE BEWERKEN</a:t>
            </a:r>
          </a:p>
        </p:txBody>
      </p:sp>
      <p:sp>
        <p:nvSpPr>
          <p:cNvPr id="22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253593" y="3454767"/>
            <a:ext cx="6906776" cy="1152622"/>
          </a:xfrm>
          <a:prstGeom prst="rect">
            <a:avLst/>
          </a:prstGeom>
          <a:noFill/>
        </p:spPr>
        <p:txBody>
          <a:bodyPr anchor="t"/>
          <a:lstStyle>
            <a:lvl1pPr marL="354013" indent="0">
              <a:buFont typeface="Wingdings" pitchFamily="2" charset="2"/>
              <a:buNone/>
              <a:defRPr sz="3200" b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nl-NL" dirty="0"/>
              <a:t>KLIK OM HET OPMAAKPROFIEL VAN DE MODELONDERTITEL TE BEWERKEN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451B97-BE37-CA47-9D14-29C8740A68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87100" y="6198698"/>
            <a:ext cx="789517" cy="4064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36B5D-EA41-E856-70A4-4511E15914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377" y="493847"/>
            <a:ext cx="3846880" cy="4929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AAB76-B98D-3C67-A35C-3213B8B012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88" y="5731058"/>
            <a:ext cx="987107" cy="6580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C3E314-E69A-B540-03EA-3621AE432EF1}"/>
              </a:ext>
            </a:extLst>
          </p:cNvPr>
          <p:cNvSpPr txBox="1"/>
          <p:nvPr userDrawn="1"/>
        </p:nvSpPr>
        <p:spPr>
          <a:xfrm>
            <a:off x="1338145" y="5675373"/>
            <a:ext cx="2509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+mn-lt"/>
              </a:rPr>
              <a:t>This project has received funding from the European Union’s Horizon research and innovation programme under grant agreement No 101192452</a:t>
            </a:r>
            <a:endParaRPr lang="en-BE" sz="11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359878"/>
            <a:ext cx="11400407" cy="459487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 wrap="none"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663A2-1950-48E6-8399-8A0176E7D7D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B71E7-1BA8-4BCA-B4F0-4746BEDF418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7B71E7-1BA8-4BCA-B4F0-4746BEDF418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0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2 LINES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359878"/>
            <a:ext cx="11400407" cy="4731847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663A2-1950-48E6-8399-8A0176E7D7D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52464" y="1514805"/>
            <a:ext cx="10363200" cy="1362075"/>
          </a:xfrm>
        </p:spPr>
        <p:txBody>
          <a:bodyPr anchor="b"/>
          <a:lstStyle>
            <a:lvl1pPr algn="ctr">
              <a:defRPr sz="4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2872126"/>
            <a:ext cx="10363200" cy="12636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E5D30F3-6AFD-2F1B-EF7E-22D148E03E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244D97-09DD-FD23-E513-6CB85FD28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01184-B8B2-89EE-6327-8149C07E8EE3}"/>
              </a:ext>
            </a:extLst>
          </p:cNvPr>
          <p:cNvSpPr/>
          <p:nvPr userDrawn="1"/>
        </p:nvSpPr>
        <p:spPr>
          <a:xfrm>
            <a:off x="0" y="6089227"/>
            <a:ext cx="1692993" cy="76877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B3331-C82D-A304-578D-0C4710F5BC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316" y="6201530"/>
            <a:ext cx="1068646" cy="5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3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3" y="332879"/>
            <a:ext cx="11430079" cy="83661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13" y="1359878"/>
            <a:ext cx="5619788" cy="466178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02" y="1359878"/>
            <a:ext cx="5590116" cy="466178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F45D9-E598-4F34-9900-AF01B7BBB3E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11" y="312236"/>
            <a:ext cx="11334829" cy="8572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11" y="1192224"/>
            <a:ext cx="55245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11" y="1978041"/>
            <a:ext cx="5543512" cy="411368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6503" y="1192224"/>
            <a:ext cx="550556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5476" y="1978041"/>
            <a:ext cx="5505565" cy="4113683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BE" dirty="0"/>
          </a:p>
        </p:txBody>
      </p:sp>
      <p:sp>
        <p:nvSpPr>
          <p:cNvPr id="7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CFEE2-7314-4064-B1F3-191E675A531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8A2AA-746C-4DBB-9102-670E2680A29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BA5276-E6AF-4E3A-BCFF-83BFC6014A2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11" y="1729212"/>
            <a:ext cx="11400407" cy="4258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61373" y="1184329"/>
            <a:ext cx="11430081" cy="369332"/>
          </a:xfrm>
        </p:spPr>
        <p:txBody>
          <a:bodyPr wrap="square" anchor="t">
            <a:spAutoFit/>
          </a:bodyPr>
          <a:lstStyle>
            <a:lvl1pPr marL="0" indent="0">
              <a:buFont typeface="Arial"/>
              <a:buNone/>
              <a:defRPr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nl-BE" dirty="0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1AB82-D72D-E71A-6ECD-1B90538CBB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AF2EF-95F1-31AE-CCEA-F43696447D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0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12" y="332879"/>
            <a:ext cx="11299476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12" y="1359878"/>
            <a:ext cx="11299476" cy="4628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4513" name="Rectangle 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3043" y="6198698"/>
            <a:ext cx="9043639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 algn="ctr">
              <a:defRPr sz="1000" b="0" i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4514" name="Rectangle 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86171" y="6198698"/>
            <a:ext cx="789517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 algn="r">
              <a:defRPr sz="1000" b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UGent Panno Text" charset="0"/>
                <a:cs typeface="UGent Panno Text" charset="0"/>
              </a:defRPr>
            </a:lvl1pPr>
          </a:lstStyle>
          <a:p>
            <a:pPr>
              <a:defRPr/>
            </a:pPr>
            <a:fld id="{9979E472-F673-4ED4-A86E-D1C34A0AEC76}" type="slidenum">
              <a:rPr lang="en-US" smtClean="0"/>
              <a:pPr>
                <a:defRPr/>
              </a:pPr>
              <a:t>‹Nº›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FE7289-D1A0-BB2C-587D-71CB4259290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316" y="6201530"/>
            <a:ext cx="1068646" cy="5052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35" r:id="rId2"/>
    <p:sldLayoutId id="2147483936" r:id="rId3"/>
    <p:sldLayoutId id="2147483947" r:id="rId4"/>
    <p:sldLayoutId id="2147483948" r:id="rId5"/>
    <p:sldLayoutId id="2147483946" r:id="rId6"/>
    <p:sldLayoutId id="2147483937" r:id="rId7"/>
    <p:sldLayoutId id="2147483938" r:id="rId8"/>
    <p:sldLayoutId id="2147483939" r:id="rId9"/>
    <p:sldLayoutId id="2147483940" r:id="rId10"/>
    <p:sldLayoutId id="214748394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+mj-lt"/>
          <a:ea typeface="UGent Panno Text" charset="0"/>
          <a:cs typeface="UGent Panno Text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UGent Panno Text" charset="0"/>
          <a:cs typeface="UGent Panno Text" charset="0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10000"/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UGent Panno Text" charset="0"/>
          <a:cs typeface="UGent Panno Text" charset="0"/>
        </a:defRPr>
      </a:lvl2pPr>
      <a:lvl3pPr marL="11049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UGent Panno Text" charset="0"/>
          <a:cs typeface="UGent Panno Text" charset="0"/>
        </a:defRPr>
      </a:lvl3pPr>
      <a:lvl4pPr marL="15621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itchFamily="34" charset="0"/>
        <a:buChar char="•"/>
        <a:defRPr sz="1800">
          <a:solidFill>
            <a:schemeClr val="tx1"/>
          </a:solidFill>
          <a:latin typeface="+mn-lt"/>
          <a:ea typeface="UGent Panno Text" charset="0"/>
          <a:cs typeface="UGent Panno Text" charset="0"/>
        </a:defRPr>
      </a:lvl4pPr>
      <a:lvl5pPr marL="2019300" indent="-1905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Calibri" pitchFamily="34" charset="0"/>
        <a:buChar char="–"/>
        <a:defRPr sz="1800">
          <a:solidFill>
            <a:schemeClr val="tx1"/>
          </a:solidFill>
          <a:latin typeface="+mn-lt"/>
          <a:ea typeface="UGent Panno Text" charset="0"/>
          <a:cs typeface="UGent Panno Text" charset="0"/>
        </a:defRPr>
      </a:lvl5pPr>
      <a:lvl6pPr marL="24765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337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3909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48100" indent="-190500" algn="l" rtl="0" fontAlgn="base">
        <a:spcBef>
          <a:spcPct val="20000"/>
        </a:spcBef>
        <a:spcAft>
          <a:spcPct val="0"/>
        </a:spcAft>
        <a:buClr>
          <a:srgbClr val="CC0066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3593" y="2534856"/>
            <a:ext cx="6906776" cy="777927"/>
          </a:xfrm>
        </p:spPr>
        <p:txBody>
          <a:bodyPr/>
          <a:lstStyle/>
          <a:p>
            <a:r>
              <a:rPr dirty="0"/>
              <a:t>KE Simulator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 dirty="0" err="1"/>
              <a:t>BlueBird</a:t>
            </a:r>
            <a:r>
              <a:rPr sz="2800" dirty="0"/>
              <a:t> K</a:t>
            </a:r>
            <a:r>
              <a:rPr lang="es-ES" sz="2800" dirty="0"/>
              <a:t>E</a:t>
            </a:r>
            <a:r>
              <a:rPr sz="2800" dirty="0"/>
              <a:t> integration</a:t>
            </a:r>
          </a:p>
          <a:p>
            <a:r>
              <a:rPr sz="2800" dirty="0"/>
              <a:t>Day-ahead / intraday energy trading </a:t>
            </a:r>
            <a:r>
              <a:rPr lang="es-ES" sz="2800" dirty="0"/>
              <a:t>F</a:t>
            </a:r>
            <a:r>
              <a:rPr sz="2800" dirty="0"/>
              <a:t>low</a:t>
            </a:r>
            <a:endParaRPr lang="es-ES" sz="2800" dirty="0"/>
          </a:p>
          <a:p>
            <a:r>
              <a:rPr lang="es-ES" sz="3600" b="1" dirty="0"/>
              <a:t>INETUM</a:t>
            </a:r>
          </a:p>
          <a:p>
            <a:r>
              <a:rPr lang="es-ES" dirty="0"/>
              <a:t>Eduardo Vendrell &amp; Kevin Herrera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KE Simulator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sz="3200" dirty="0"/>
              <a:t>A web application that shows how energy data flows through the </a:t>
            </a:r>
            <a:r>
              <a:rPr sz="3200" dirty="0" err="1"/>
              <a:t>BlueBird</a:t>
            </a:r>
            <a:r>
              <a:rPr sz="3200" dirty="0"/>
              <a:t> Knowledge Engine (KE) with Smart Connectors.</a:t>
            </a:r>
            <a:endParaRPr lang="es-ES" sz="3200" dirty="0"/>
          </a:p>
          <a:p>
            <a:pPr>
              <a:defRPr sz="2000"/>
            </a:pPr>
            <a:endParaRPr lang="es-ES" sz="3200" dirty="0"/>
          </a:p>
          <a:p>
            <a:pPr>
              <a:defRPr sz="2000"/>
            </a:pPr>
            <a:r>
              <a:rPr lang="en-US" sz="3200" dirty="0"/>
              <a:t>A 13-step day-ahead / intraday Trading cycle (shortfall &amp; surplus scenarios).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sz="3200" dirty="0"/>
              <a:t>Runs a complete day-ahead → intraday trading cycle end to end.</a:t>
            </a:r>
            <a:endParaRPr lang="es-ES" sz="3200" dirty="0"/>
          </a:p>
          <a:p>
            <a:pPr>
              <a:defRPr sz="2000"/>
            </a:pPr>
            <a:endParaRPr sz="3200" dirty="0"/>
          </a:p>
          <a:p>
            <a:pPr>
              <a:defRPr sz="2000"/>
            </a:pPr>
            <a:r>
              <a:rPr sz="3200" dirty="0" err="1"/>
              <a:t>Visualises</a:t>
            </a:r>
            <a:r>
              <a:rPr sz="3200" dirty="0"/>
              <a:t> each step: market prices, price forecast, demand forecast, Share Offer, day-ahead clearing and the intraday correction.</a:t>
            </a:r>
            <a:endParaRPr lang="es-ES" sz="3200" dirty="0"/>
          </a:p>
          <a:p>
            <a:pPr>
              <a:defRPr sz="2000"/>
            </a:pPr>
            <a:endParaRPr sz="3200" dirty="0"/>
          </a:p>
          <a:p>
            <a:pPr>
              <a:defRPr sz="2000"/>
            </a:pPr>
            <a:r>
              <a:rPr sz="3200" dirty="0"/>
              <a:t>Shows the live status of every Knowledge Engine exchange (which Knowledge Base answered, success / failure).</a:t>
            </a:r>
            <a:endParaRPr lang="es-ES" sz="3200" dirty="0"/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D827B-F2C6-82E7-1BF5-4722DAC9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9">
            <a:extLst>
              <a:ext uri="{FF2B5EF4-FFF2-40B4-BE49-F238E27FC236}">
                <a16:creationId xmlns:a16="http://schemas.microsoft.com/office/drawing/2014/main" id="{B5CB6E46-C230-101C-1CE9-F42686273C13}"/>
              </a:ext>
            </a:extLst>
          </p:cNvPr>
          <p:cNvSpPr/>
          <p:nvPr/>
        </p:nvSpPr>
        <p:spPr>
          <a:xfrm>
            <a:off x="383535" y="889480"/>
            <a:ext cx="11002739" cy="5909463"/>
          </a:xfrm>
          <a:prstGeom prst="rect">
            <a:avLst/>
          </a:prstGeom>
          <a:solidFill>
            <a:schemeClr val="accent5">
              <a:alpha val="26000"/>
            </a:schemeClr>
          </a:solidFill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UBFlex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47">
            <a:extLst>
              <a:ext uri="{FF2B5EF4-FFF2-40B4-BE49-F238E27FC236}">
                <a16:creationId xmlns:a16="http://schemas.microsoft.com/office/drawing/2014/main" id="{3F544971-A271-F4DE-FA61-985A39F13584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4578022" y="946376"/>
            <a:ext cx="0" cy="5726878"/>
          </a:xfrm>
          <a:prstGeom prst="line">
            <a:avLst/>
          </a:prstGeom>
          <a:ln w="38100">
            <a:solidFill>
              <a:srgbClr val="44546A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>
            <a:extLst>
              <a:ext uri="{FF2B5EF4-FFF2-40B4-BE49-F238E27FC236}">
                <a16:creationId xmlns:a16="http://schemas.microsoft.com/office/drawing/2014/main" id="{1EFBFDD3-0665-5430-50F1-FC9209E3985F}"/>
              </a:ext>
            </a:extLst>
          </p:cNvPr>
          <p:cNvSpPr/>
          <p:nvPr/>
        </p:nvSpPr>
        <p:spPr>
          <a:xfrm>
            <a:off x="6227273" y="648494"/>
            <a:ext cx="2377440" cy="288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Trading Manager (TM)</a:t>
            </a: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169BC3CE-2BB6-B585-DC55-A39582245FCF}"/>
              </a:ext>
            </a:extLst>
          </p:cNvPr>
          <p:cNvCxnSpPr>
            <a:cxnSpLocks/>
          </p:cNvCxnSpPr>
          <p:nvPr/>
        </p:nvCxnSpPr>
        <p:spPr>
          <a:xfrm>
            <a:off x="4781305" y="1728272"/>
            <a:ext cx="2629389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0">
            <a:extLst>
              <a:ext uri="{FF2B5EF4-FFF2-40B4-BE49-F238E27FC236}">
                <a16:creationId xmlns:a16="http://schemas.microsoft.com/office/drawing/2014/main" id="{6FE34892-E742-6538-281E-8BCA830308E0}"/>
              </a:ext>
            </a:extLst>
          </p:cNvPr>
          <p:cNvSpPr/>
          <p:nvPr/>
        </p:nvSpPr>
        <p:spPr>
          <a:xfrm>
            <a:off x="3429150" y="1424067"/>
            <a:ext cx="2372977" cy="2419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Price Forecast</a:t>
            </a:r>
          </a:p>
        </p:txBody>
      </p:sp>
      <p:cxnSp>
        <p:nvCxnSpPr>
          <p:cNvPr id="13" name="Straight Connector 23">
            <a:extLst>
              <a:ext uri="{FF2B5EF4-FFF2-40B4-BE49-F238E27FC236}">
                <a16:creationId xmlns:a16="http://schemas.microsoft.com/office/drawing/2014/main" id="{EBDC953B-61BC-1676-B960-B47A25A7E00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415993" y="937492"/>
            <a:ext cx="23922" cy="5734910"/>
          </a:xfrm>
          <a:prstGeom prst="line">
            <a:avLst/>
          </a:prstGeom>
          <a:ln w="38100">
            <a:solidFill>
              <a:srgbClr val="44546A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6">
            <a:extLst>
              <a:ext uri="{FF2B5EF4-FFF2-40B4-BE49-F238E27FC236}">
                <a16:creationId xmlns:a16="http://schemas.microsoft.com/office/drawing/2014/main" id="{298BA943-94B6-9630-446B-122E55F9B25C}"/>
              </a:ext>
            </a:extLst>
          </p:cNvPr>
          <p:cNvSpPr/>
          <p:nvPr/>
        </p:nvSpPr>
        <p:spPr>
          <a:xfrm>
            <a:off x="9065245" y="624160"/>
            <a:ext cx="2377440" cy="288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Market Service (SC)</a:t>
            </a:r>
          </a:p>
        </p:txBody>
      </p:sp>
      <p:cxnSp>
        <p:nvCxnSpPr>
          <p:cNvPr id="15" name="Straight Connector 32">
            <a:extLst>
              <a:ext uri="{FF2B5EF4-FFF2-40B4-BE49-F238E27FC236}">
                <a16:creationId xmlns:a16="http://schemas.microsoft.com/office/drawing/2014/main" id="{02897B0B-8DD5-F1E7-F6B8-6ABA5FC2AEB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253963" y="913158"/>
            <a:ext cx="2" cy="5716090"/>
          </a:xfrm>
          <a:prstGeom prst="line">
            <a:avLst/>
          </a:prstGeom>
          <a:ln w="38100">
            <a:solidFill>
              <a:srgbClr val="44546A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93FCC9-CF14-395D-9BEA-EFC0B3AC296E}"/>
              </a:ext>
            </a:extLst>
          </p:cNvPr>
          <p:cNvCxnSpPr>
            <a:cxnSpLocks/>
          </p:cNvCxnSpPr>
          <p:nvPr/>
        </p:nvCxnSpPr>
        <p:spPr>
          <a:xfrm>
            <a:off x="7609803" y="1415004"/>
            <a:ext cx="256032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3781C-1B4C-F445-D79F-BDC444E39A5F}"/>
              </a:ext>
            </a:extLst>
          </p:cNvPr>
          <p:cNvSpPr/>
          <p:nvPr/>
        </p:nvSpPr>
        <p:spPr>
          <a:xfrm>
            <a:off x="9050699" y="1033292"/>
            <a:ext cx="2377435" cy="2022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Exchange Price Offer (history)</a:t>
            </a:r>
          </a:p>
        </p:txBody>
      </p:sp>
      <p:sp>
        <p:nvSpPr>
          <p:cNvPr id="18" name="Rectangle 34">
            <a:extLst>
              <a:ext uri="{FF2B5EF4-FFF2-40B4-BE49-F238E27FC236}">
                <a16:creationId xmlns:a16="http://schemas.microsoft.com/office/drawing/2014/main" id="{005DD48E-247C-7ECD-428B-47E07864A5C1}"/>
              </a:ext>
            </a:extLst>
          </p:cNvPr>
          <p:cNvSpPr/>
          <p:nvPr/>
        </p:nvSpPr>
        <p:spPr>
          <a:xfrm rot="5400000">
            <a:off x="8806555" y="3432671"/>
            <a:ext cx="6048241" cy="640080"/>
          </a:xfrm>
          <a:prstGeom prst="rect">
            <a:avLst/>
          </a:prstGeom>
          <a:solidFill>
            <a:schemeClr val="bg1">
              <a:alpha val="8000"/>
            </a:schemeClr>
          </a:solidFill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Market API</a:t>
            </a:r>
          </a:p>
        </p:txBody>
      </p:sp>
      <p:sp>
        <p:nvSpPr>
          <p:cNvPr id="19" name="Rectangle 35">
            <a:extLst>
              <a:ext uri="{FF2B5EF4-FFF2-40B4-BE49-F238E27FC236}">
                <a16:creationId xmlns:a16="http://schemas.microsoft.com/office/drawing/2014/main" id="{FE439D96-A830-876A-BC96-545A0388E8E0}"/>
              </a:ext>
            </a:extLst>
          </p:cNvPr>
          <p:cNvSpPr/>
          <p:nvPr/>
        </p:nvSpPr>
        <p:spPr>
          <a:xfrm>
            <a:off x="0" y="0"/>
            <a:ext cx="2377440" cy="5318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Intraday Market</a:t>
            </a:r>
          </a:p>
        </p:txBody>
      </p:sp>
      <p:sp>
        <p:nvSpPr>
          <p:cNvPr id="20" name="Rectangle 38">
            <a:extLst>
              <a:ext uri="{FF2B5EF4-FFF2-40B4-BE49-F238E27FC236}">
                <a16:creationId xmlns:a16="http://schemas.microsoft.com/office/drawing/2014/main" id="{E45D849C-F5E1-3EE1-CC4C-5885DE6C87D9}"/>
              </a:ext>
            </a:extLst>
          </p:cNvPr>
          <p:cNvSpPr/>
          <p:nvPr/>
        </p:nvSpPr>
        <p:spPr>
          <a:xfrm>
            <a:off x="341675" y="630426"/>
            <a:ext cx="2377440" cy="288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Flexibility Manager</a:t>
            </a:r>
          </a:p>
        </p:txBody>
      </p:sp>
      <p:sp>
        <p:nvSpPr>
          <p:cNvPr id="21" name="Rectangle 46">
            <a:extLst>
              <a:ext uri="{FF2B5EF4-FFF2-40B4-BE49-F238E27FC236}">
                <a16:creationId xmlns:a16="http://schemas.microsoft.com/office/drawing/2014/main" id="{9BE344BA-7406-130C-4F2B-5978682155E6}"/>
              </a:ext>
            </a:extLst>
          </p:cNvPr>
          <p:cNvSpPr/>
          <p:nvPr/>
        </p:nvSpPr>
        <p:spPr>
          <a:xfrm>
            <a:off x="3389302" y="648494"/>
            <a:ext cx="2377440" cy="297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Digital Twin (TM)</a:t>
            </a:r>
          </a:p>
        </p:txBody>
      </p:sp>
      <p:sp>
        <p:nvSpPr>
          <p:cNvPr id="22" name="Rectangle 48">
            <a:extLst>
              <a:ext uri="{FF2B5EF4-FFF2-40B4-BE49-F238E27FC236}">
                <a16:creationId xmlns:a16="http://schemas.microsoft.com/office/drawing/2014/main" id="{EFBF8295-03F9-2CDB-62DB-A309C40F6063}"/>
              </a:ext>
            </a:extLst>
          </p:cNvPr>
          <p:cNvSpPr/>
          <p:nvPr/>
        </p:nvSpPr>
        <p:spPr>
          <a:xfrm>
            <a:off x="477325" y="2156158"/>
            <a:ext cx="2377435" cy="32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Current/Predicted Power Demand</a:t>
            </a:r>
          </a:p>
        </p:txBody>
      </p:sp>
      <p:cxnSp>
        <p:nvCxnSpPr>
          <p:cNvPr id="23" name="Straight Arrow Connector 49">
            <a:extLst>
              <a:ext uri="{FF2B5EF4-FFF2-40B4-BE49-F238E27FC236}">
                <a16:creationId xmlns:a16="http://schemas.microsoft.com/office/drawing/2014/main" id="{4F5F0126-3A5E-2DDA-548A-3487ABE3371C}"/>
              </a:ext>
            </a:extLst>
          </p:cNvPr>
          <p:cNvCxnSpPr>
            <a:cxnSpLocks/>
          </p:cNvCxnSpPr>
          <p:nvPr/>
        </p:nvCxnSpPr>
        <p:spPr>
          <a:xfrm>
            <a:off x="1948048" y="2520110"/>
            <a:ext cx="540327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52">
            <a:extLst>
              <a:ext uri="{FF2B5EF4-FFF2-40B4-BE49-F238E27FC236}">
                <a16:creationId xmlns:a16="http://schemas.microsoft.com/office/drawing/2014/main" id="{EB22A335-AD7E-0202-2C70-53B893B2FBFB}"/>
              </a:ext>
            </a:extLst>
          </p:cNvPr>
          <p:cNvSpPr/>
          <p:nvPr/>
        </p:nvSpPr>
        <p:spPr>
          <a:xfrm>
            <a:off x="6325061" y="2601271"/>
            <a:ext cx="2320761" cy="2390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 Share Offer (Day Ahead)</a:t>
            </a:r>
          </a:p>
        </p:txBody>
      </p:sp>
      <p:cxnSp>
        <p:nvCxnSpPr>
          <p:cNvPr id="25" name="Straight Arrow Connector 56">
            <a:extLst>
              <a:ext uri="{FF2B5EF4-FFF2-40B4-BE49-F238E27FC236}">
                <a16:creationId xmlns:a16="http://schemas.microsoft.com/office/drawing/2014/main" id="{C34099DD-E863-04E1-9DF1-7CE588FA8A62}"/>
              </a:ext>
            </a:extLst>
          </p:cNvPr>
          <p:cNvCxnSpPr>
            <a:cxnSpLocks/>
          </p:cNvCxnSpPr>
          <p:nvPr/>
        </p:nvCxnSpPr>
        <p:spPr>
          <a:xfrm>
            <a:off x="7643770" y="3534354"/>
            <a:ext cx="256032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7">
            <a:extLst>
              <a:ext uri="{FF2B5EF4-FFF2-40B4-BE49-F238E27FC236}">
                <a16:creationId xmlns:a16="http://schemas.microsoft.com/office/drawing/2014/main" id="{607BA984-9885-66E7-C646-D05A05049D41}"/>
              </a:ext>
            </a:extLst>
          </p:cNvPr>
          <p:cNvCxnSpPr>
            <a:cxnSpLocks/>
          </p:cNvCxnSpPr>
          <p:nvPr/>
        </p:nvCxnSpPr>
        <p:spPr>
          <a:xfrm>
            <a:off x="7643770" y="2929812"/>
            <a:ext cx="242732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33">
            <a:extLst>
              <a:ext uri="{FF2B5EF4-FFF2-40B4-BE49-F238E27FC236}">
                <a16:creationId xmlns:a16="http://schemas.microsoft.com/office/drawing/2014/main" id="{4EAD7AF2-39A6-E868-D635-EF183A6D078E}"/>
              </a:ext>
            </a:extLst>
          </p:cNvPr>
          <p:cNvCxnSpPr>
            <a:cxnSpLocks/>
          </p:cNvCxnSpPr>
          <p:nvPr/>
        </p:nvCxnSpPr>
        <p:spPr>
          <a:xfrm>
            <a:off x="1921676" y="2102235"/>
            <a:ext cx="538792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1">
            <a:extLst>
              <a:ext uri="{FF2B5EF4-FFF2-40B4-BE49-F238E27FC236}">
                <a16:creationId xmlns:a16="http://schemas.microsoft.com/office/drawing/2014/main" id="{F4195023-3792-75C0-350F-707D1BEC1688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1486783" y="919424"/>
            <a:ext cx="43612" cy="5752978"/>
          </a:xfrm>
          <a:prstGeom prst="line">
            <a:avLst/>
          </a:prstGeom>
          <a:ln w="38100">
            <a:solidFill>
              <a:srgbClr val="44546A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42">
            <a:extLst>
              <a:ext uri="{FF2B5EF4-FFF2-40B4-BE49-F238E27FC236}">
                <a16:creationId xmlns:a16="http://schemas.microsoft.com/office/drawing/2014/main" id="{0398506F-E617-2383-6A5F-547B21C066A6}"/>
              </a:ext>
            </a:extLst>
          </p:cNvPr>
          <p:cNvSpPr/>
          <p:nvPr/>
        </p:nvSpPr>
        <p:spPr>
          <a:xfrm>
            <a:off x="8197497" y="1415004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POST/ASK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43">
            <a:extLst>
              <a:ext uri="{FF2B5EF4-FFF2-40B4-BE49-F238E27FC236}">
                <a16:creationId xmlns:a16="http://schemas.microsoft.com/office/drawing/2014/main" id="{2D159865-0C7B-FA32-5B70-9E4612BE94D6}"/>
              </a:ext>
            </a:extLst>
          </p:cNvPr>
          <p:cNvCxnSpPr>
            <a:cxnSpLocks/>
          </p:cNvCxnSpPr>
          <p:nvPr/>
        </p:nvCxnSpPr>
        <p:spPr>
          <a:xfrm>
            <a:off x="4721929" y="1341262"/>
            <a:ext cx="544819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4">
            <a:extLst>
              <a:ext uri="{FF2B5EF4-FFF2-40B4-BE49-F238E27FC236}">
                <a16:creationId xmlns:a16="http://schemas.microsoft.com/office/drawing/2014/main" id="{1472179D-FF43-3199-A35C-63C2F18BBE6F}"/>
              </a:ext>
            </a:extLst>
          </p:cNvPr>
          <p:cNvSpPr/>
          <p:nvPr/>
        </p:nvSpPr>
        <p:spPr>
          <a:xfrm>
            <a:off x="5272204" y="1805201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2" name="Rectangle 45">
            <a:extLst>
              <a:ext uri="{FF2B5EF4-FFF2-40B4-BE49-F238E27FC236}">
                <a16:creationId xmlns:a16="http://schemas.microsoft.com/office/drawing/2014/main" id="{85D5CF54-64F0-71FD-EC25-73C1946831AF}"/>
              </a:ext>
            </a:extLst>
          </p:cNvPr>
          <p:cNvSpPr/>
          <p:nvPr/>
        </p:nvSpPr>
        <p:spPr>
          <a:xfrm>
            <a:off x="5272204" y="2181262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ASK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BF425CCD-3269-6D46-77CC-C2E6D8E9FDA9}"/>
              </a:ext>
            </a:extLst>
          </p:cNvPr>
          <p:cNvSpPr/>
          <p:nvPr/>
        </p:nvSpPr>
        <p:spPr>
          <a:xfrm>
            <a:off x="5272204" y="2585741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ANSWER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Rectangle 51">
            <a:extLst>
              <a:ext uri="{FF2B5EF4-FFF2-40B4-BE49-F238E27FC236}">
                <a16:creationId xmlns:a16="http://schemas.microsoft.com/office/drawing/2014/main" id="{B13ACC1A-73AF-EEC1-FD1E-09CD57F88494}"/>
              </a:ext>
            </a:extLst>
          </p:cNvPr>
          <p:cNvSpPr/>
          <p:nvPr/>
        </p:nvSpPr>
        <p:spPr>
          <a:xfrm>
            <a:off x="8228481" y="2969681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2A7410-FD07-99D6-5773-6101F7FCEDF0}"/>
              </a:ext>
            </a:extLst>
          </p:cNvPr>
          <p:cNvSpPr/>
          <p:nvPr/>
        </p:nvSpPr>
        <p:spPr>
          <a:xfrm>
            <a:off x="9050699" y="3075588"/>
            <a:ext cx="2320761" cy="3534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Day Ahead offer response (Accepted Volume + price)</a:t>
            </a:r>
          </a:p>
        </p:txBody>
      </p:sp>
      <p:sp>
        <p:nvSpPr>
          <p:cNvPr id="36" name="Rectangle 54">
            <a:extLst>
              <a:ext uri="{FF2B5EF4-FFF2-40B4-BE49-F238E27FC236}">
                <a16:creationId xmlns:a16="http://schemas.microsoft.com/office/drawing/2014/main" id="{8F258CC6-59F6-09C2-88F4-DF0A239C2B8C}"/>
              </a:ext>
            </a:extLst>
          </p:cNvPr>
          <p:cNvSpPr/>
          <p:nvPr/>
        </p:nvSpPr>
        <p:spPr>
          <a:xfrm>
            <a:off x="549571" y="4037749"/>
            <a:ext cx="2377435" cy="32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Current/Predicted Power Demand</a:t>
            </a:r>
          </a:p>
        </p:txBody>
      </p:sp>
      <p:cxnSp>
        <p:nvCxnSpPr>
          <p:cNvPr id="37" name="Straight Arrow Connector 55">
            <a:extLst>
              <a:ext uri="{FF2B5EF4-FFF2-40B4-BE49-F238E27FC236}">
                <a16:creationId xmlns:a16="http://schemas.microsoft.com/office/drawing/2014/main" id="{185BD0D8-063C-4C11-990D-46E26F169A0D}"/>
              </a:ext>
            </a:extLst>
          </p:cNvPr>
          <p:cNvCxnSpPr>
            <a:cxnSpLocks/>
          </p:cNvCxnSpPr>
          <p:nvPr/>
        </p:nvCxnSpPr>
        <p:spPr>
          <a:xfrm>
            <a:off x="2020294" y="4401701"/>
            <a:ext cx="540327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59">
            <a:extLst>
              <a:ext uri="{FF2B5EF4-FFF2-40B4-BE49-F238E27FC236}">
                <a16:creationId xmlns:a16="http://schemas.microsoft.com/office/drawing/2014/main" id="{A0EC33B4-6E78-461A-DD77-85B392A2A1D7}"/>
              </a:ext>
            </a:extLst>
          </p:cNvPr>
          <p:cNvSpPr/>
          <p:nvPr/>
        </p:nvSpPr>
        <p:spPr>
          <a:xfrm>
            <a:off x="6397307" y="4482862"/>
            <a:ext cx="2320761" cy="2390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  Share Adjusted Offer (Intraday)</a:t>
            </a:r>
          </a:p>
        </p:txBody>
      </p:sp>
      <p:cxnSp>
        <p:nvCxnSpPr>
          <p:cNvPr id="39" name="Straight Arrow Connector 60">
            <a:extLst>
              <a:ext uri="{FF2B5EF4-FFF2-40B4-BE49-F238E27FC236}">
                <a16:creationId xmlns:a16="http://schemas.microsoft.com/office/drawing/2014/main" id="{36FF972E-E47F-98DF-E73A-EE6A788515AE}"/>
              </a:ext>
            </a:extLst>
          </p:cNvPr>
          <p:cNvCxnSpPr>
            <a:cxnSpLocks/>
          </p:cNvCxnSpPr>
          <p:nvPr/>
        </p:nvCxnSpPr>
        <p:spPr>
          <a:xfrm>
            <a:off x="1993922" y="3983826"/>
            <a:ext cx="5387924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66">
            <a:extLst>
              <a:ext uri="{FF2B5EF4-FFF2-40B4-BE49-F238E27FC236}">
                <a16:creationId xmlns:a16="http://schemas.microsoft.com/office/drawing/2014/main" id="{A66D009F-592C-0A24-E114-A4F49C1D453F}"/>
              </a:ext>
            </a:extLst>
          </p:cNvPr>
          <p:cNvSpPr/>
          <p:nvPr/>
        </p:nvSpPr>
        <p:spPr>
          <a:xfrm>
            <a:off x="5344450" y="4062853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ASK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1" name="Rectangle 67">
            <a:extLst>
              <a:ext uri="{FF2B5EF4-FFF2-40B4-BE49-F238E27FC236}">
                <a16:creationId xmlns:a16="http://schemas.microsoft.com/office/drawing/2014/main" id="{6B268AB4-5759-4E9B-6F71-CA237236F283}"/>
              </a:ext>
            </a:extLst>
          </p:cNvPr>
          <p:cNvSpPr/>
          <p:nvPr/>
        </p:nvSpPr>
        <p:spPr>
          <a:xfrm>
            <a:off x="5344450" y="4467332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ANSWER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2" name="Straight Arrow Connector 68">
            <a:extLst>
              <a:ext uri="{FF2B5EF4-FFF2-40B4-BE49-F238E27FC236}">
                <a16:creationId xmlns:a16="http://schemas.microsoft.com/office/drawing/2014/main" id="{654F2886-0335-35CC-D74A-6F3830580C2C}"/>
              </a:ext>
            </a:extLst>
          </p:cNvPr>
          <p:cNvCxnSpPr>
            <a:cxnSpLocks/>
          </p:cNvCxnSpPr>
          <p:nvPr/>
        </p:nvCxnSpPr>
        <p:spPr>
          <a:xfrm>
            <a:off x="7643770" y="5432963"/>
            <a:ext cx="256032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9">
            <a:extLst>
              <a:ext uri="{FF2B5EF4-FFF2-40B4-BE49-F238E27FC236}">
                <a16:creationId xmlns:a16="http://schemas.microsoft.com/office/drawing/2014/main" id="{864667F2-5F72-580B-30DA-B391F357372F}"/>
              </a:ext>
            </a:extLst>
          </p:cNvPr>
          <p:cNvCxnSpPr>
            <a:cxnSpLocks/>
          </p:cNvCxnSpPr>
          <p:nvPr/>
        </p:nvCxnSpPr>
        <p:spPr>
          <a:xfrm>
            <a:off x="7569987" y="4838582"/>
            <a:ext cx="242732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70">
            <a:extLst>
              <a:ext uri="{FF2B5EF4-FFF2-40B4-BE49-F238E27FC236}">
                <a16:creationId xmlns:a16="http://schemas.microsoft.com/office/drawing/2014/main" id="{01D64DF8-4259-53BD-13E2-983FBE38D8F3}"/>
              </a:ext>
            </a:extLst>
          </p:cNvPr>
          <p:cNvSpPr/>
          <p:nvPr/>
        </p:nvSpPr>
        <p:spPr>
          <a:xfrm>
            <a:off x="8154698" y="4878451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 71">
            <a:extLst>
              <a:ext uri="{FF2B5EF4-FFF2-40B4-BE49-F238E27FC236}">
                <a16:creationId xmlns:a16="http://schemas.microsoft.com/office/drawing/2014/main" id="{D9719CC2-9FBB-27E0-2387-8A331AAB7AB3}"/>
              </a:ext>
            </a:extLst>
          </p:cNvPr>
          <p:cNvSpPr/>
          <p:nvPr/>
        </p:nvSpPr>
        <p:spPr>
          <a:xfrm>
            <a:off x="8976916" y="4984358"/>
            <a:ext cx="2320761" cy="3534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Intraday offer response</a:t>
            </a:r>
          </a:p>
        </p:txBody>
      </p:sp>
      <p:sp>
        <p:nvSpPr>
          <p:cNvPr id="46" name="Rectangle 72">
            <a:extLst>
              <a:ext uri="{FF2B5EF4-FFF2-40B4-BE49-F238E27FC236}">
                <a16:creationId xmlns:a16="http://schemas.microsoft.com/office/drawing/2014/main" id="{72C2FF36-99A2-F0A8-AED9-3922728838F9}"/>
              </a:ext>
            </a:extLst>
          </p:cNvPr>
          <p:cNvSpPr/>
          <p:nvPr/>
        </p:nvSpPr>
        <p:spPr>
          <a:xfrm>
            <a:off x="8283344" y="3596679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Rectangle 73">
            <a:extLst>
              <a:ext uri="{FF2B5EF4-FFF2-40B4-BE49-F238E27FC236}">
                <a16:creationId xmlns:a16="http://schemas.microsoft.com/office/drawing/2014/main" id="{A4F6EA11-FEC5-BF94-81ED-FA61D81CFC17}"/>
              </a:ext>
            </a:extLst>
          </p:cNvPr>
          <p:cNvSpPr/>
          <p:nvPr/>
        </p:nvSpPr>
        <p:spPr>
          <a:xfrm>
            <a:off x="8204773" y="5538319"/>
            <a:ext cx="1384932" cy="117007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POST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8" name="Rectangle 74">
            <a:extLst>
              <a:ext uri="{FF2B5EF4-FFF2-40B4-BE49-F238E27FC236}">
                <a16:creationId xmlns:a16="http://schemas.microsoft.com/office/drawing/2014/main" id="{0F806EC0-47F8-776C-C432-013AB29CD1F0}"/>
              </a:ext>
            </a:extLst>
          </p:cNvPr>
          <p:cNvSpPr/>
          <p:nvPr/>
        </p:nvSpPr>
        <p:spPr>
          <a:xfrm>
            <a:off x="477325" y="3854190"/>
            <a:ext cx="10726033" cy="2393203"/>
          </a:xfrm>
          <a:prstGeom prst="rect">
            <a:avLst/>
          </a:prstGeom>
          <a:solidFill>
            <a:schemeClr val="accent2">
              <a:alpha val="18000"/>
            </a:schemeClr>
          </a:solidFill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Intraday [x]</a:t>
            </a:r>
          </a:p>
        </p:txBody>
      </p:sp>
    </p:spTree>
    <p:extLst>
      <p:ext uri="{BB962C8B-B14F-4D97-AF65-F5344CB8AC3E}">
        <p14:creationId xmlns:p14="http://schemas.microsoft.com/office/powerpoint/2010/main" val="879316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stack — current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23682"/>
            <a:ext cx="11430000" cy="5347508"/>
          </a:xfrm>
          <a:prstGeom prst="roundRect">
            <a:avLst/>
          </a:prstGeom>
          <a:solidFill>
            <a:srgbClr val="DEEBF7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1200" b="1">
                <a:solidFill>
                  <a:srgbClr val="1F4E79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822960" y="1869308"/>
            <a:ext cx="1306782" cy="10972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 err="1"/>
              <a:t>ke</a:t>
            </a:r>
            <a:r>
              <a:rPr sz="1400" dirty="0"/>
              <a:t>-simulator</a:t>
            </a:r>
            <a:br>
              <a:rPr sz="1400" dirty="0"/>
            </a:br>
            <a:r>
              <a:rPr sz="1400" dirty="0"/>
              <a:t>nginx · React UI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5482" y="2257928"/>
            <a:ext cx="502920" cy="32004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6368" y="1771211"/>
            <a:ext cx="2468880" cy="10972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 err="1"/>
              <a:t>ke</a:t>
            </a:r>
            <a:r>
              <a:rPr sz="1400" dirty="0"/>
              <a:t>-bridge</a:t>
            </a:r>
            <a:br>
              <a:rPr sz="1400" dirty="0"/>
            </a:br>
            <a:r>
              <a:rPr sz="1400" dirty="0" err="1"/>
              <a:t>FastAPI</a:t>
            </a:r>
            <a:r>
              <a:rPr sz="1400" dirty="0"/>
              <a:t> · </a:t>
            </a:r>
            <a:r>
              <a:rPr sz="1400" dirty="0" err="1"/>
              <a:t>ke_client</a:t>
            </a:r>
            <a:endParaRPr sz="1400" dirty="0"/>
          </a:p>
        </p:txBody>
      </p:sp>
      <p:sp>
        <p:nvSpPr>
          <p:cNvPr id="7" name="Right Arrow 6"/>
          <p:cNvSpPr/>
          <p:nvPr/>
        </p:nvSpPr>
        <p:spPr>
          <a:xfrm>
            <a:off x="5663214" y="2188738"/>
            <a:ext cx="502920" cy="32004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50329" y="1744241"/>
            <a:ext cx="3715479" cy="10972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 err="1"/>
              <a:t>ke</a:t>
            </a:r>
            <a:r>
              <a:rPr sz="1400" dirty="0"/>
              <a:t>-service</a:t>
            </a:r>
            <a:br>
              <a:rPr sz="1400" dirty="0"/>
            </a:br>
            <a:r>
              <a:rPr sz="1400" dirty="0"/>
              <a:t>TNO Smart Connector (KE)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1117" y="3946359"/>
            <a:ext cx="2468880" cy="1097280"/>
          </a:xfrm>
          <a:prstGeom prst="roundRect">
            <a:avLst/>
          </a:prstGeom>
          <a:solidFill>
            <a:srgbClr val="2E7D3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/>
              <a:t>tm-</a:t>
            </a:r>
            <a:r>
              <a:rPr sz="1400" dirty="0" err="1"/>
              <a:t>standin</a:t>
            </a:r>
            <a:br>
              <a:rPr sz="1400" dirty="0"/>
            </a:br>
            <a:r>
              <a:rPr sz="1400" dirty="0"/>
              <a:t>day-ahead prices</a:t>
            </a:r>
            <a:br>
              <a:rPr sz="1400" dirty="0"/>
            </a:br>
            <a:r>
              <a:rPr sz="1400" dirty="0"/>
              <a:t>KB tm.bluebird.com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8637" y="3946359"/>
            <a:ext cx="2468880" cy="1097280"/>
          </a:xfrm>
          <a:prstGeom prst="roundRect">
            <a:avLst/>
          </a:prstGeom>
          <a:solidFill>
            <a:srgbClr val="2E7D3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400" dirty="0" err="1"/>
              <a:t>fm-standin</a:t>
            </a:r>
            <a:br>
              <a:rPr sz="1400" dirty="0"/>
            </a:br>
            <a:r>
              <a:rPr sz="1400" dirty="0"/>
              <a:t>consumption forecast</a:t>
            </a:r>
            <a:br>
              <a:rPr sz="1400" dirty="0"/>
            </a:br>
            <a:r>
              <a:rPr sz="1400" dirty="0"/>
              <a:t>KB fm.bluebird.com</a:t>
            </a:r>
          </a:p>
        </p:txBody>
      </p:sp>
      <p:sp>
        <p:nvSpPr>
          <p:cNvPr id="11" name="Up Arrow 10"/>
          <p:cNvSpPr/>
          <p:nvPr/>
        </p:nvSpPr>
        <p:spPr>
          <a:xfrm>
            <a:off x="6368397" y="3031959"/>
            <a:ext cx="274320" cy="868680"/>
          </a:xfrm>
          <a:prstGeom prst="up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Up Arrow 11"/>
          <p:cNvSpPr/>
          <p:nvPr/>
        </p:nvSpPr>
        <p:spPr>
          <a:xfrm>
            <a:off x="9385917" y="3031959"/>
            <a:ext cx="274320" cy="868680"/>
          </a:xfrm>
          <a:prstGeom prst="up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FE2F1AED-BB8E-21C0-2263-5325234F6FA2}"/>
              </a:ext>
            </a:extLst>
          </p:cNvPr>
          <p:cNvSpPr txBox="1"/>
          <p:nvPr/>
        </p:nvSpPr>
        <p:spPr>
          <a:xfrm>
            <a:off x="853440" y="544297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•  Browser ⇄ Bridge over REST + live events (SSE); Bridge ⇄ everyone else only via the KE.</a:t>
            </a:r>
          </a:p>
          <a:p>
            <a:pPr>
              <a:defRPr sz="1600"/>
            </a:pPr>
            <a:r>
              <a:rPr dirty="0"/>
              <a:t>•  All inter-module data uses Knowledge Interactions: ASK · POST · ANSWER · REACT.</a:t>
            </a:r>
          </a:p>
          <a:p>
            <a:pPr>
              <a:defRPr sz="1600"/>
            </a:pPr>
            <a:r>
              <a:rPr dirty="0"/>
              <a:t>•  A server-side bridge is required (the browser cannot run the Python KE client); secrets stay server-side.</a:t>
            </a:r>
          </a:p>
          <a:p>
            <a:pPr>
              <a:defRPr sz="1600"/>
            </a:pPr>
            <a:r>
              <a:rPr dirty="0"/>
              <a:t>•  If the KE is unavailable, the app falls back to simulated data and is clearly labelled.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stack — what each container runs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58069"/>
              </p:ext>
            </p:extLst>
          </p:nvPr>
        </p:nvGraphicFramePr>
        <p:xfrm>
          <a:off x="365759" y="1463040"/>
          <a:ext cx="1113947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1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2400" dirty="0"/>
                        <a:t>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2400"/>
                        <a:t>Role &amp; key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 err="1"/>
                        <a:t>ke</a:t>
                      </a:r>
                      <a:r>
                        <a:rPr sz="1600" dirty="0"/>
                        <a:t>-service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/>
                        <a:t>Knowledge Engine (TNO Smart Connector). Routes all Knowledge Interactions between the Knowledge Bases.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 err="1"/>
                        <a:t>ke</a:t>
                      </a:r>
                      <a:r>
                        <a:rPr sz="1600" dirty="0"/>
                        <a:t>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/>
                        <a:t>The simulator's Knowledge Base. REST + SSE to the UI; ASKs day-ahead prices (tou-price) and consumption (fm-ts) through the KE.  KB http://simulator.bluebird.com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/>
                        <a:t>tm-</a:t>
                      </a:r>
                      <a:r>
                        <a:rPr sz="1600" dirty="0" err="1"/>
                        <a:t>standin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/>
                        <a:t>Trading-Manager price producer (stand-in). ANSWERs tm-info / tou-price with a synthetic day-ahead curve.  KB http://tm.bluebird.com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 err="1"/>
                        <a:t>fm-standin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/>
                        <a:t>Flexibility-Manager producer (stand-in). ANSWERs fm-ts-info-request / fm-ts with a synthetic consumption curve.  KB http://fm.bluebird.com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 err="1"/>
                        <a:t>ke</a:t>
                      </a:r>
                      <a:r>
                        <a:rPr sz="1600" dirty="0"/>
                        <a:t>-simulator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600" dirty="0"/>
                        <a:t>React single-page app served by nginx; proxies /bridge → </a:t>
                      </a:r>
                      <a:r>
                        <a:rPr sz="1600" dirty="0" err="1"/>
                        <a:t>ke</a:t>
                      </a:r>
                      <a:r>
                        <a:rPr sz="1600" dirty="0"/>
                        <a:t>-bridge. Built with VITE_USE_KE=true.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works today — via the real Knowledge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KE Smart Connector + KE Bridge running; the simulator is registered as its own Knowledge Base.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Day-ahead prices delivered through the KE (96 × 15-minute points).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Flexibility (consumption) forecast delivered through the KE.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The Trading cycle consumes real KE prices and the real KE forecast — validated end to end in the browser.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Graceful fallback to simulated data whenever the KE is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still a stand-in (today)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Trading Manager — the real module sits behind a private registry; replaced by a price stand-in producing a synthetic day-ahead curve over the KE.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Flexibility Manager — has no KE integration yet; replaced by a consumption stand-in answering over the KE.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Still local / simulated: intraday prices, the Share-Offer write-back, and the two Digital Twins (price-forecast &amp; consumption).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Important: the simulator consumes them through the KE already — swapping a stand-in for the real module requires no change on the simulator 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missing for the complete real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Access to the real Trading Manager (private registry credentials) and an ENTSO-E token, so real prices and market clearing flow through the KE.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KE integration inside the Flexibility Manager (register its KB + consumption Knowledge Interaction).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Intraday price interaction over the KE (today only day-ahead is </a:t>
            </a:r>
            <a:r>
              <a:rPr dirty="0" err="1"/>
              <a:t>standardised</a:t>
            </a:r>
            <a:r>
              <a:rPr dirty="0"/>
              <a:t>).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Share-Offer write path — actually POST offers to the Trading Manager, with market session timing and permissions.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Real price-forecast and consumption Digital Twins as KE participants.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Obtain registry credentials + ENTSO-E token → replace the TM stand-in with the real Trading Manager (no simulator change).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Flexibility Manager team adds KE support → retire the FM stand-in.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Add the intraday and offer-write Knowledge Interactions; wire the Digital Twins.</a:t>
            </a:r>
            <a:endParaRPr lang="es-ES"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rPr dirty="0"/>
              <a:t>The simulator demonstrates the end-to-end, KE-mediated trading flow — today with real day-ahead prices and a real demand forecast flowing through the Knowledge Engine.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The remaining work is mainly access / credentials and completing KE integration inside the domain modules.</a:t>
            </a:r>
            <a:endParaRPr lang="es-ES"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The simulator is ready to consume the real modules with no changes once they are available on the KE.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BlueBird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277E51"/>
      </a:accent1>
      <a:accent2>
        <a:srgbClr val="394992"/>
      </a:accent2>
      <a:accent3>
        <a:srgbClr val="C00000"/>
      </a:accent3>
      <a:accent4>
        <a:srgbClr val="FAC05E"/>
      </a:accent4>
      <a:accent5>
        <a:srgbClr val="75B594"/>
      </a:accent5>
      <a:accent6>
        <a:srgbClr val="5D3612"/>
      </a:accent6>
      <a:hlink>
        <a:srgbClr val="394992"/>
      </a:hlink>
      <a:folHlink>
        <a:srgbClr val="39499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 11">
        <a:dk1>
          <a:srgbClr val="000000"/>
        </a:dk1>
        <a:lt1>
          <a:srgbClr val="FFFFFF"/>
        </a:lt1>
        <a:dk2>
          <a:srgbClr val="CC00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BED649"/>
        </a:hlink>
        <a:folHlink>
          <a:srgbClr val="8EA32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000000"/>
        </a:dk1>
        <a:lt1>
          <a:srgbClr val="FFFFFF"/>
        </a:lt1>
        <a:dk2>
          <a:srgbClr val="CC0066"/>
        </a:dk2>
        <a:lt2>
          <a:srgbClr val="BFB5B3"/>
        </a:lt2>
        <a:accent1>
          <a:srgbClr val="BED649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DBE8B1"/>
        </a:accent5>
        <a:accent6>
          <a:srgbClr val="E72D00"/>
        </a:accent6>
        <a:hlink>
          <a:srgbClr val="CC0066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000000"/>
        </a:dk1>
        <a:lt1>
          <a:srgbClr val="FFFFFF"/>
        </a:lt1>
        <a:dk2>
          <a:srgbClr val="D40056"/>
        </a:dk2>
        <a:lt2>
          <a:srgbClr val="BFB5B3"/>
        </a:lt2>
        <a:accent1>
          <a:srgbClr val="BED649"/>
        </a:accent1>
        <a:accent2>
          <a:srgbClr val="FF3300"/>
        </a:accent2>
        <a:accent3>
          <a:srgbClr val="FFFFFF"/>
        </a:accent3>
        <a:accent4>
          <a:srgbClr val="000000"/>
        </a:accent4>
        <a:accent5>
          <a:srgbClr val="DBE8B1"/>
        </a:accent5>
        <a:accent6>
          <a:srgbClr val="E72D00"/>
        </a:accent6>
        <a:hlink>
          <a:srgbClr val="C81E73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ed4265-3024-4e76-939f-b50d44f98f45">
      <Terms xmlns="http://schemas.microsoft.com/office/infopath/2007/PartnerControls"/>
    </lcf76f155ced4ddcb4097134ff3c332f>
    <TaxCatchAll xmlns="35fc29c8-c736-43f7-b2d0-7091e39bc6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12D056080BC47A87695EC0204DC7E" ma:contentTypeVersion="25" ma:contentTypeDescription="Crée un document." ma:contentTypeScope="" ma:versionID="98b2a1a553db6a7b4b78016b0840471e">
  <xsd:schema xmlns:xsd="http://www.w3.org/2001/XMLSchema" xmlns:xs="http://www.w3.org/2001/XMLSchema" xmlns:p="http://schemas.microsoft.com/office/2006/metadata/properties" xmlns:ns2="6eed4265-3024-4e76-939f-b50d44f98f45" xmlns:ns3="35fc29c8-c736-43f7-b2d0-7091e39bc605" targetNamespace="http://schemas.microsoft.com/office/2006/metadata/properties" ma:root="true" ma:fieldsID="867f8c031cfd2b779a21be5ed71b7c9e" ns2:_="" ns3:_="">
    <xsd:import namespace="6eed4265-3024-4e76-939f-b50d44f98f45"/>
    <xsd:import namespace="35fc29c8-c736-43f7-b2d0-7091e39bc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ed4265-3024-4e76-939f-b50d44f98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ece1a9e-e829-42a2-80ca-4303f8678d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c29c8-c736-43f7-b2d0-7091e39bc6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68ac6d-c18a-43cc-96dd-008f92a2b2f5}" ma:internalName="TaxCatchAll" ma:showField="CatchAllData" ma:web="35fc29c8-c736-43f7-b2d0-7091e39bc6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5951D2-98B4-421C-BC09-C9E305EBAE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16F73A-4059-4CEB-80D4-EA76D4B2E6A5}">
  <ds:schemaRefs>
    <ds:schemaRef ds:uri="http://schemas.microsoft.com/office/2006/metadata/properties"/>
    <ds:schemaRef ds:uri="http://schemas.microsoft.com/office/infopath/2007/PartnerControls"/>
    <ds:schemaRef ds:uri="6eed4265-3024-4e76-939f-b50d44f98f45"/>
    <ds:schemaRef ds:uri="35fc29c8-c736-43f7-b2d0-7091e39bc605"/>
  </ds:schemaRefs>
</ds:datastoreItem>
</file>

<file path=customXml/itemProps3.xml><?xml version="1.0" encoding="utf-8"?>
<ds:datastoreItem xmlns:ds="http://schemas.openxmlformats.org/officeDocument/2006/customXml" ds:itemID="{074A4E44-386C-4BAA-A02F-A66247A49D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ed4265-3024-4e76-939f-b50d44f98f45"/>
    <ds:schemaRef ds:uri="35fc29c8-c736-43f7-b2d0-7091e39bc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c04a875-6eb2-484b-a14b-e2519851b720}" enabled="1" method="Standard" siteId="{14cb4ab4-62b8-45a2-a944-e225383ee1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Theme_UGent</Template>
  <TotalTime>72479</TotalTime>
  <Words>847</Words>
  <Application>Microsoft Office PowerPoint</Application>
  <PresentationFormat>Panorámica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Gill Sans MT</vt:lpstr>
      <vt:lpstr>Wingdings</vt:lpstr>
      <vt:lpstr>Presentation</vt:lpstr>
      <vt:lpstr>KE Simulator Overview</vt:lpstr>
      <vt:lpstr>What the KE Simulator is</vt:lpstr>
      <vt:lpstr>What it does today</vt:lpstr>
      <vt:lpstr>Presentación de PowerPoint</vt:lpstr>
      <vt:lpstr>Docker stack — current architecture</vt:lpstr>
      <vt:lpstr>Docker stack — what each container runs</vt:lpstr>
      <vt:lpstr>What works today — via the real Knowledge Engine</vt:lpstr>
      <vt:lpstr>What is still a stand-in (today)</vt:lpstr>
      <vt:lpstr>What's missing for the complete real flow</vt:lpstr>
      <vt:lpstr>Next steps</vt:lpstr>
      <vt:lpstr>Summary</vt:lpstr>
    </vt:vector>
  </TitlesOfParts>
  <Manager/>
  <Company>UGent - imec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BlueBird Presentation Template</dc:title>
  <dc:subject/>
  <dc:creator>Chris Develder</dc:creator>
  <cp:keywords/>
  <dc:description/>
  <cp:lastModifiedBy>Eduardo Vendrell</cp:lastModifiedBy>
  <cp:revision>1324</cp:revision>
  <cp:lastPrinted>2024-10-30T09:38:46Z</cp:lastPrinted>
  <dcterms:created xsi:type="dcterms:W3CDTF">2008-06-23T13:32:26Z</dcterms:created>
  <dcterms:modified xsi:type="dcterms:W3CDTF">2026-10-13T07:31:44Z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  <property fmtid="{D5CDD505-2E9C-101B-9397-08002B2CF9AE}" pid="3" name="ContentTypeId">
    <vt:lpwstr>0x01010038012D056080BC47A87695EC0204DC7E</vt:lpwstr>
  </property>
  <property fmtid="{D5CDD505-2E9C-101B-9397-08002B2CF9AE}" pid="4" name="MediaServiceImageTags">
    <vt:lpwstr/>
  </property>
</Properties>
</file>